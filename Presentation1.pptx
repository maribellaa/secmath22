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8"/>
  </p:notesMasterIdLst>
  <p:sldIdLst>
    <p:sldId id="257" r:id="rId2"/>
    <p:sldId id="319" r:id="rId3"/>
    <p:sldId id="258" r:id="rId4"/>
    <p:sldId id="259" r:id="rId5"/>
    <p:sldId id="260" r:id="rId6"/>
    <p:sldId id="261" r:id="rId7"/>
    <p:sldId id="320" r:id="rId8"/>
    <p:sldId id="262" r:id="rId9"/>
    <p:sldId id="264"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334" r:id="rId23"/>
    <p:sldId id="333" r:id="rId24"/>
    <p:sldId id="266" r:id="rId25"/>
    <p:sldId id="267" r:id="rId26"/>
    <p:sldId id="335" r:id="rId27"/>
    <p:sldId id="336" r:id="rId28"/>
    <p:sldId id="337" r:id="rId29"/>
    <p:sldId id="338" r:id="rId30"/>
    <p:sldId id="339" r:id="rId31"/>
    <p:sldId id="340" r:id="rId32"/>
    <p:sldId id="341" r:id="rId33"/>
    <p:sldId id="342" r:id="rId34"/>
    <p:sldId id="265" r:id="rId35"/>
    <p:sldId id="343" r:id="rId36"/>
    <p:sldId id="344" r:id="rId37"/>
    <p:sldId id="345" r:id="rId38"/>
    <p:sldId id="346" r:id="rId39"/>
    <p:sldId id="347" r:id="rId40"/>
    <p:sldId id="348" r:id="rId41"/>
    <p:sldId id="349" r:id="rId42"/>
    <p:sldId id="353" r:id="rId43"/>
    <p:sldId id="350" r:id="rId44"/>
    <p:sldId id="351" r:id="rId45"/>
    <p:sldId id="354" r:id="rId46"/>
    <p:sldId id="352" r:id="rId47"/>
    <p:sldId id="355" r:id="rId48"/>
    <p:sldId id="356" r:id="rId49"/>
    <p:sldId id="357" r:id="rId50"/>
    <p:sldId id="358" r:id="rId51"/>
    <p:sldId id="359" r:id="rId52"/>
    <p:sldId id="360" r:id="rId53"/>
    <p:sldId id="361" r:id="rId54"/>
    <p:sldId id="362" r:id="rId55"/>
    <p:sldId id="363" r:id="rId56"/>
    <p:sldId id="364" r:id="rId57"/>
    <p:sldId id="365" r:id="rId58"/>
    <p:sldId id="372" r:id="rId59"/>
    <p:sldId id="373" r:id="rId60"/>
    <p:sldId id="366" r:id="rId61"/>
    <p:sldId id="367" r:id="rId62"/>
    <p:sldId id="368" r:id="rId63"/>
    <p:sldId id="371" r:id="rId64"/>
    <p:sldId id="369" r:id="rId65"/>
    <p:sldId id="370" r:id="rId66"/>
    <p:sldId id="317"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6" autoAdjust="0"/>
    <p:restoredTop sz="94660"/>
  </p:normalViewPr>
  <p:slideViewPr>
    <p:cSldViewPr snapToGrid="0">
      <p:cViewPr varScale="1">
        <p:scale>
          <a:sx n="65" d="100"/>
          <a:sy n="65" d="100"/>
        </p:scale>
        <p:origin x="114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652322-B6BB-4C65-8F8C-A6FCE567ECC9}" type="datetimeFigureOut">
              <a:rPr lang="en-US" smtClean="0"/>
              <a:t>8/15/2024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4E8899-14C6-4CEF-89D4-2DA16122F191}" type="slidenum">
              <a:rPr lang="en-US" smtClean="0"/>
              <a:t>‹#›</a:t>
            </a:fld>
            <a:endParaRPr lang="en-US" dirty="0"/>
          </a:p>
        </p:txBody>
      </p:sp>
    </p:spTree>
    <p:extLst>
      <p:ext uri="{BB962C8B-B14F-4D97-AF65-F5344CB8AC3E}">
        <p14:creationId xmlns:p14="http://schemas.microsoft.com/office/powerpoint/2010/main" val="2255229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28653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672097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555960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23812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55466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60450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87436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76663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dirty="0"/>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63558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34103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17928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8/15/2024</a:t>
            </a:fld>
            <a:endParaRPr lang="en-US" dirty="0"/>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086511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1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1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1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1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1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1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1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2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2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svg"/><Relationship Id="rId7" Type="http://schemas.openxmlformats.org/officeDocument/2006/relationships/image" Target="../media/image16.svg"/><Relationship Id="rId12" Type="http://schemas.openxmlformats.org/officeDocument/2006/relationships/image" Target="../media/image3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8.svg"/><Relationship Id="rId5" Type="http://schemas.openxmlformats.org/officeDocument/2006/relationships/image" Target="../media/image15.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7.svg"/></Relationships>
</file>

<file path=ppt/slides/_rels/slide2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3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2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svg"/><Relationship Id="rId7" Type="http://schemas.openxmlformats.org/officeDocument/2006/relationships/image" Target="../media/image16.svg"/><Relationship Id="rId12" Type="http://schemas.openxmlformats.org/officeDocument/2006/relationships/image" Target="../media/image3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8.svg"/><Relationship Id="rId5" Type="http://schemas.openxmlformats.org/officeDocument/2006/relationships/image" Target="../media/image15.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7.svg"/></Relationships>
</file>

<file path=ppt/slides/_rels/slide2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3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2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svg"/><Relationship Id="rId7" Type="http://schemas.openxmlformats.org/officeDocument/2006/relationships/image" Target="../media/image16.svg"/><Relationship Id="rId12" Type="http://schemas.openxmlformats.org/officeDocument/2006/relationships/image" Target="../media/image3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8.svg"/><Relationship Id="rId5" Type="http://schemas.openxmlformats.org/officeDocument/2006/relationships/image" Target="../media/image15.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7.svg"/></Relationships>
</file>

<file path=ppt/slides/_rels/slide3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3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3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svg"/><Relationship Id="rId7" Type="http://schemas.openxmlformats.org/officeDocument/2006/relationships/image" Target="../media/image16.svg"/><Relationship Id="rId12" Type="http://schemas.openxmlformats.org/officeDocument/2006/relationships/image" Target="../media/image3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8.svg"/><Relationship Id="rId5" Type="http://schemas.openxmlformats.org/officeDocument/2006/relationships/image" Target="../media/image15.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7.svg"/></Relationships>
</file>

<file path=ppt/slides/_rels/slide3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svg"/><Relationship Id="rId7" Type="http://schemas.openxmlformats.org/officeDocument/2006/relationships/image" Target="../media/image11.svg"/><Relationship Id="rId12" Type="http://schemas.openxmlformats.org/officeDocument/2006/relationships/image" Target="../media/image3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9.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2.svg"/></Relationships>
</file>

<file path=ppt/slides/_rels/slide3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svg"/><Relationship Id="rId7" Type="http://schemas.openxmlformats.org/officeDocument/2006/relationships/image" Target="../media/image16.svg"/><Relationship Id="rId12" Type="http://schemas.openxmlformats.org/officeDocument/2006/relationships/image" Target="../media/image3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8.svg"/><Relationship Id="rId5" Type="http://schemas.openxmlformats.org/officeDocument/2006/relationships/image" Target="../media/image15.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7.svg"/></Relationships>
</file>

<file path=ppt/slides/_rels/slide3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svg"/><Relationship Id="rId7" Type="http://schemas.openxmlformats.org/officeDocument/2006/relationships/image" Target="../media/image16.svg"/><Relationship Id="rId12" Type="http://schemas.openxmlformats.org/officeDocument/2006/relationships/image" Target="../media/image4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8.svg"/><Relationship Id="rId5" Type="http://schemas.openxmlformats.org/officeDocument/2006/relationships/image" Target="../media/image15.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7.svg"/></Relationships>
</file>

<file path=ppt/slides/_rels/slide3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svg"/><Relationship Id="rId7" Type="http://schemas.openxmlformats.org/officeDocument/2006/relationships/image" Target="../media/image16.svg"/><Relationship Id="rId12" Type="http://schemas.openxmlformats.org/officeDocument/2006/relationships/image" Target="../media/image4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8.svg"/><Relationship Id="rId5" Type="http://schemas.openxmlformats.org/officeDocument/2006/relationships/image" Target="../media/image15.sv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7.svg"/></Relationships>
</file>

<file path=ppt/slides/_rels/slide3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3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42.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3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43.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3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44.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45.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26.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27.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28.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29.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3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46.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47.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48.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49.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5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51.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52.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53.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54.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6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6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6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53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6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54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6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6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6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56.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55.png"/><Relationship Id="rId11" Type="http://schemas.openxmlformats.org/officeDocument/2006/relationships/image" Target="../media/image7.svg"/><Relationship Id="rId5" Type="http://schemas.openxmlformats.org/officeDocument/2006/relationships/image" Target="../media/image9.svg"/><Relationship Id="rId10"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9424" y="1738784"/>
            <a:ext cx="7493152" cy="3380433"/>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028625">
            <a:off x="1402604" y="105387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448119" y="2817721"/>
            <a:ext cx="7098373" cy="1034835"/>
          </a:xfrm>
          <a:prstGeom prst="rect">
            <a:avLst/>
          </a:prstGeom>
        </p:spPr>
        <p:txBody>
          <a:bodyPr lIns="0" tIns="0" rIns="0" bIns="0" rtlCol="0" anchor="t">
            <a:spAutoFit/>
          </a:bodyPr>
          <a:lstStyle/>
          <a:p>
            <a:pPr algn="ctr" defTabSz="609630">
              <a:lnSpc>
                <a:spcPts val="8587"/>
              </a:lnSpc>
            </a:pPr>
            <a:r>
              <a:rPr lang="en-US" sz="6134" dirty="0">
                <a:solidFill>
                  <a:srgbClr val="000000"/>
                </a:solidFill>
                <a:latin typeface="Century" panose="02040604050505020304" pitchFamily="18" charset="0"/>
              </a:rPr>
              <a:t>Good morning!</a:t>
            </a: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9424" y="1738784"/>
            <a:ext cx="7493152" cy="3380433"/>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028625">
            <a:off x="1402604" y="105387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448119" y="2817721"/>
            <a:ext cx="7098373" cy="1034835"/>
          </a:xfrm>
          <a:prstGeom prst="rect">
            <a:avLst/>
          </a:prstGeom>
        </p:spPr>
        <p:txBody>
          <a:bodyPr lIns="0" tIns="0" rIns="0" bIns="0" rtlCol="0" anchor="t">
            <a:spAutoFit/>
          </a:bodyPr>
          <a:lstStyle/>
          <a:p>
            <a:pPr algn="ctr" defTabSz="609630">
              <a:lnSpc>
                <a:spcPts val="8587"/>
              </a:lnSpc>
            </a:pPr>
            <a:r>
              <a:rPr lang="en-US" sz="6134" dirty="0">
                <a:solidFill>
                  <a:srgbClr val="000000"/>
                </a:solidFill>
                <a:latin typeface="Century" panose="02040604050505020304" pitchFamily="18" charset="0"/>
              </a:rPr>
              <a:t>CLASS RULES</a:t>
            </a: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897329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9424" y="1738784"/>
            <a:ext cx="7493152" cy="3380433"/>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028625">
            <a:off x="1402604" y="105387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45396" y="2120008"/>
            <a:ext cx="7098373" cy="4205254"/>
          </a:xfrm>
          <a:prstGeom prst="rect">
            <a:avLst/>
          </a:prstGeom>
        </p:spPr>
        <p:txBody>
          <a:bodyPr lIns="0" tIns="0" rIns="0" bIns="0" rtlCol="0" anchor="t">
            <a:spAutoFit/>
          </a:bodyPr>
          <a:lstStyle/>
          <a:p>
            <a:pPr algn="just" defTabSz="609630">
              <a:lnSpc>
                <a:spcPct val="150000"/>
              </a:lnSpc>
            </a:pPr>
            <a:r>
              <a:rPr lang="en-US" sz="1500" b="1" dirty="0">
                <a:solidFill>
                  <a:srgbClr val="000000"/>
                </a:solidFill>
                <a:latin typeface="Arial" panose="020B0604020202020204" pitchFamily="34" charset="0"/>
                <a:cs typeface="Arial" panose="020B0604020202020204" pitchFamily="34" charset="0"/>
              </a:rPr>
              <a:t>E</a:t>
            </a:r>
            <a:r>
              <a:rPr lang="en-US" sz="1500" dirty="0">
                <a:solidFill>
                  <a:srgbClr val="000000"/>
                </a:solidFill>
                <a:latin typeface="Arial" panose="020B0604020202020204" pitchFamily="34" charset="0"/>
                <a:cs typeface="Arial" panose="020B0604020202020204" pitchFamily="34" charset="0"/>
              </a:rPr>
              <a:t> – Engage actively</a:t>
            </a:r>
          </a:p>
          <a:p>
            <a:pPr algn="just" defTabSz="609630">
              <a:lnSpc>
                <a:spcPct val="150000"/>
              </a:lnSpc>
            </a:pPr>
            <a:r>
              <a:rPr lang="en-US" sz="1500" b="1" dirty="0">
                <a:solidFill>
                  <a:srgbClr val="000000"/>
                </a:solidFill>
                <a:latin typeface="Arial" panose="020B0604020202020204" pitchFamily="34" charset="0"/>
                <a:cs typeface="Arial" panose="020B0604020202020204" pitchFamily="34" charset="0"/>
              </a:rPr>
              <a:t>Q</a:t>
            </a:r>
            <a:r>
              <a:rPr lang="en-US" sz="1500" dirty="0">
                <a:solidFill>
                  <a:srgbClr val="000000"/>
                </a:solidFill>
                <a:latin typeface="Arial" panose="020B0604020202020204" pitchFamily="34" charset="0"/>
                <a:cs typeface="Arial" panose="020B0604020202020204" pitchFamily="34" charset="0"/>
              </a:rPr>
              <a:t> – Question respectfully</a:t>
            </a:r>
          </a:p>
          <a:p>
            <a:pPr algn="just" defTabSz="609630">
              <a:lnSpc>
                <a:spcPct val="150000"/>
              </a:lnSpc>
            </a:pPr>
            <a:r>
              <a:rPr lang="en-US" sz="1500" b="1" dirty="0">
                <a:solidFill>
                  <a:srgbClr val="000000"/>
                </a:solidFill>
                <a:latin typeface="Arial" panose="020B0604020202020204" pitchFamily="34" charset="0"/>
                <a:cs typeface="Arial" panose="020B0604020202020204" pitchFamily="34" charset="0"/>
              </a:rPr>
              <a:t>U</a:t>
            </a:r>
            <a:r>
              <a:rPr lang="en-US" sz="1500" dirty="0">
                <a:solidFill>
                  <a:srgbClr val="000000"/>
                </a:solidFill>
                <a:latin typeface="Arial" panose="020B0604020202020204" pitchFamily="34" charset="0"/>
                <a:cs typeface="Arial" panose="020B0604020202020204" pitchFamily="34" charset="0"/>
              </a:rPr>
              <a:t> – Use time wisely</a:t>
            </a:r>
          </a:p>
          <a:p>
            <a:pPr algn="just" defTabSz="609630">
              <a:lnSpc>
                <a:spcPct val="150000"/>
              </a:lnSpc>
            </a:pPr>
            <a:r>
              <a:rPr lang="en-US" sz="1500" b="1" dirty="0">
                <a:solidFill>
                  <a:srgbClr val="000000"/>
                </a:solidFill>
                <a:latin typeface="Arial" panose="020B0604020202020204" pitchFamily="34" charset="0"/>
                <a:cs typeface="Arial" panose="020B0604020202020204" pitchFamily="34" charset="0"/>
              </a:rPr>
              <a:t>A</a:t>
            </a:r>
            <a:r>
              <a:rPr lang="en-US" sz="1500" dirty="0">
                <a:solidFill>
                  <a:srgbClr val="000000"/>
                </a:solidFill>
                <a:latin typeface="Arial" panose="020B0604020202020204" pitchFamily="34" charset="0"/>
                <a:cs typeface="Arial" panose="020B0604020202020204" pitchFamily="34" charset="0"/>
              </a:rPr>
              <a:t> – Always raise your hand if you want to speak.</a:t>
            </a:r>
          </a:p>
          <a:p>
            <a:pPr algn="just" defTabSz="609630">
              <a:lnSpc>
                <a:spcPct val="150000"/>
              </a:lnSpc>
            </a:pPr>
            <a:r>
              <a:rPr lang="en-US" sz="1500" b="1" dirty="0">
                <a:solidFill>
                  <a:srgbClr val="000000"/>
                </a:solidFill>
                <a:latin typeface="Arial" panose="020B0604020202020204" pitchFamily="34" charset="0"/>
                <a:cs typeface="Arial" panose="020B0604020202020204" pitchFamily="34" charset="0"/>
              </a:rPr>
              <a:t>T</a:t>
            </a:r>
            <a:r>
              <a:rPr lang="en-US" sz="1500" dirty="0">
                <a:solidFill>
                  <a:srgbClr val="000000"/>
                </a:solidFill>
                <a:latin typeface="Arial" panose="020B0604020202020204" pitchFamily="34" charset="0"/>
                <a:cs typeface="Arial" panose="020B0604020202020204" pitchFamily="34" charset="0"/>
              </a:rPr>
              <a:t> – Think critically</a:t>
            </a:r>
          </a:p>
          <a:p>
            <a:pPr algn="just" defTabSz="609630">
              <a:lnSpc>
                <a:spcPct val="150000"/>
              </a:lnSpc>
            </a:pPr>
            <a:r>
              <a:rPr lang="en-US" sz="1500" b="1" dirty="0">
                <a:solidFill>
                  <a:srgbClr val="000000"/>
                </a:solidFill>
                <a:latin typeface="Arial" panose="020B0604020202020204" pitchFamily="34" charset="0"/>
                <a:cs typeface="Arial" panose="020B0604020202020204" pitchFamily="34" charset="0"/>
              </a:rPr>
              <a:t>I</a:t>
            </a:r>
            <a:r>
              <a:rPr lang="en-US" sz="1500" dirty="0">
                <a:solidFill>
                  <a:srgbClr val="000000"/>
                </a:solidFill>
                <a:latin typeface="Arial" panose="020B0604020202020204" pitchFamily="34" charset="0"/>
                <a:cs typeface="Arial" panose="020B0604020202020204" pitchFamily="34" charset="0"/>
              </a:rPr>
              <a:t> – Interact thoughtfully.</a:t>
            </a:r>
          </a:p>
          <a:p>
            <a:pPr algn="just" defTabSz="609630">
              <a:lnSpc>
                <a:spcPct val="150000"/>
              </a:lnSpc>
            </a:pPr>
            <a:r>
              <a:rPr lang="en-US" sz="1500" b="1" dirty="0">
                <a:solidFill>
                  <a:srgbClr val="000000"/>
                </a:solidFill>
                <a:latin typeface="Arial" panose="020B0604020202020204" pitchFamily="34" charset="0"/>
                <a:cs typeface="Arial" panose="020B0604020202020204" pitchFamily="34" charset="0"/>
              </a:rPr>
              <a:t>O</a:t>
            </a:r>
            <a:r>
              <a:rPr lang="en-US" sz="1500" dirty="0">
                <a:solidFill>
                  <a:srgbClr val="000000"/>
                </a:solidFill>
                <a:latin typeface="Arial" panose="020B0604020202020204" pitchFamily="34" charset="0"/>
                <a:cs typeface="Arial" panose="020B0604020202020204" pitchFamily="34" charset="0"/>
              </a:rPr>
              <a:t> – Observe rules at all times </a:t>
            </a:r>
          </a:p>
          <a:p>
            <a:pPr algn="just" defTabSz="609630">
              <a:lnSpc>
                <a:spcPct val="150000"/>
              </a:lnSpc>
            </a:pPr>
            <a:r>
              <a:rPr lang="en-US" sz="1500" b="1" dirty="0">
                <a:solidFill>
                  <a:srgbClr val="000000"/>
                </a:solidFill>
                <a:latin typeface="Arial" panose="020B0604020202020204" pitchFamily="34" charset="0"/>
                <a:cs typeface="Arial" panose="020B0604020202020204" pitchFamily="34" charset="0"/>
              </a:rPr>
              <a:t>N</a:t>
            </a:r>
            <a:r>
              <a:rPr lang="en-US" sz="1500" dirty="0">
                <a:solidFill>
                  <a:srgbClr val="000000"/>
                </a:solidFill>
                <a:latin typeface="Arial" panose="020B0604020202020204" pitchFamily="34" charset="0"/>
                <a:cs typeface="Arial" panose="020B0604020202020204" pitchFamily="34" charset="0"/>
              </a:rPr>
              <a:t> – Nurture respect and kindness</a:t>
            </a:r>
          </a:p>
          <a:p>
            <a:pPr algn="just" defTabSz="609630">
              <a:lnSpc>
                <a:spcPct val="150000"/>
              </a:lnSpc>
            </a:pPr>
            <a:endParaRPr lang="en-US" sz="1900" dirty="0">
              <a:solidFill>
                <a:srgbClr val="000000"/>
              </a:solidFill>
              <a:latin typeface="Arial" panose="020B0604020202020204" pitchFamily="34" charset="0"/>
              <a:cs typeface="Arial" panose="020B0604020202020204" pitchFamily="34" charset="0"/>
            </a:endParaRPr>
          </a:p>
          <a:p>
            <a:pPr algn="ctr" defTabSz="609630">
              <a:lnSpc>
                <a:spcPts val="8587"/>
              </a:lnSpc>
            </a:pPr>
            <a:endParaRPr lang="en-US" sz="6134" dirty="0">
              <a:solidFill>
                <a:srgbClr val="000000"/>
              </a:solidFill>
              <a:latin typeface="Century" panose="020406040505050203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190429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9424" y="1738784"/>
            <a:ext cx="7493152" cy="3380433"/>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028625">
            <a:off x="1402604" y="105387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579535" y="2207048"/>
            <a:ext cx="7098373" cy="3212674"/>
          </a:xfrm>
          <a:prstGeom prst="rect">
            <a:avLst/>
          </a:prstGeom>
        </p:spPr>
        <p:txBody>
          <a:bodyPr lIns="0" tIns="0" rIns="0" bIns="0" rtlCol="0" anchor="t">
            <a:spAutoFit/>
          </a:bodyPr>
          <a:lstStyle/>
          <a:p>
            <a:pPr algn="ctr" defTabSz="609630">
              <a:lnSpc>
                <a:spcPct val="150000"/>
              </a:lnSpc>
            </a:pPr>
            <a:r>
              <a:rPr lang="en-US" sz="4800" dirty="0">
                <a:solidFill>
                  <a:srgbClr val="000000"/>
                </a:solidFill>
                <a:latin typeface="Century" panose="02040604050505020304" pitchFamily="18" charset="0"/>
                <a:cs typeface="Arial" panose="020B0604020202020204" pitchFamily="34" charset="0"/>
              </a:rPr>
              <a:t>QUADRATIC EQUATION</a:t>
            </a:r>
          </a:p>
          <a:p>
            <a:pPr algn="ctr" defTabSz="609630">
              <a:lnSpc>
                <a:spcPts val="8587"/>
              </a:lnSpc>
            </a:pPr>
            <a:endParaRPr lang="en-US" sz="6134" dirty="0">
              <a:solidFill>
                <a:srgbClr val="000000"/>
              </a:solidFill>
              <a:latin typeface="Century" panose="020406040505050203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458920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9424" y="1738784"/>
            <a:ext cx="7493152" cy="3380433"/>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028625">
            <a:off x="1402604" y="105387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45508" y="2249717"/>
            <a:ext cx="7098373" cy="2099549"/>
          </a:xfrm>
          <a:prstGeom prst="rect">
            <a:avLst/>
          </a:prstGeom>
        </p:spPr>
        <p:txBody>
          <a:bodyPr lIns="0" tIns="0" rIns="0" bIns="0" rtlCol="0" anchor="t">
            <a:spAutoFit/>
          </a:bodyPr>
          <a:lstStyle/>
          <a:p>
            <a:pPr algn="ctr" defTabSz="609630">
              <a:lnSpc>
                <a:spcPts val="8587"/>
              </a:lnSpc>
            </a:pPr>
            <a:r>
              <a:rPr lang="en-US" sz="6134" dirty="0">
                <a:solidFill>
                  <a:srgbClr val="000000"/>
                </a:solidFill>
                <a:latin typeface="Century" panose="02040604050505020304" pitchFamily="18" charset="0"/>
              </a:rPr>
              <a:t>What is quadratic equation?</a:t>
            </a: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3923027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9424" y="1738784"/>
            <a:ext cx="7493152" cy="3380433"/>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028625">
            <a:off x="1402604" y="105387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45508" y="2086661"/>
            <a:ext cx="7098373" cy="3766672"/>
          </a:xfrm>
          <a:prstGeom prst="rect">
            <a:avLst/>
          </a:prstGeom>
        </p:spPr>
        <p:txBody>
          <a:bodyPr lIns="0" tIns="0" rIns="0" bIns="0" rtlCol="0" anchor="t">
            <a:spAutoFit/>
          </a:bodyPr>
          <a:lstStyle/>
          <a:p>
            <a:pPr algn="ctr" defTabSz="609630">
              <a:lnSpc>
                <a:spcPct val="150000"/>
              </a:lnSpc>
            </a:pPr>
            <a:r>
              <a:rPr lang="en-US" sz="4000" dirty="0">
                <a:solidFill>
                  <a:srgbClr val="000000"/>
                </a:solidFill>
                <a:latin typeface="Century" panose="02040604050505020304" pitchFamily="18" charset="0"/>
                <a:cs typeface="Arial" panose="020B0604020202020204" pitchFamily="34" charset="0"/>
              </a:rPr>
              <a:t>How do you determine the values of 𝑎, 𝑏, and 𝑐 of the quadratic equations?</a:t>
            </a:r>
          </a:p>
          <a:p>
            <a:pPr algn="ctr" defTabSz="609630">
              <a:lnSpc>
                <a:spcPts val="8587"/>
              </a:lnSpc>
            </a:pPr>
            <a:endParaRPr lang="en-US" sz="6134" dirty="0">
              <a:solidFill>
                <a:srgbClr val="000000"/>
              </a:solidFill>
              <a:latin typeface="Century" panose="020406040505050203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79117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9424" y="1738784"/>
            <a:ext cx="7493152" cy="3380433"/>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028625">
            <a:off x="1402604" y="105387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22148" y="1777367"/>
            <a:ext cx="7098373" cy="4771499"/>
          </a:xfrm>
          <a:prstGeom prst="rect">
            <a:avLst/>
          </a:prstGeom>
        </p:spPr>
        <p:txBody>
          <a:bodyPr lIns="0" tIns="0" rIns="0" bIns="0" rtlCol="0" anchor="t">
            <a:spAutoFit/>
          </a:bodyPr>
          <a:lstStyle/>
          <a:p>
            <a:pPr algn="ctr" defTabSz="609630">
              <a:lnSpc>
                <a:spcPct val="150000"/>
              </a:lnSpc>
            </a:pPr>
            <a:r>
              <a:rPr lang="en-US" sz="2400" b="1" dirty="0">
                <a:solidFill>
                  <a:srgbClr val="000000"/>
                </a:solidFill>
                <a:latin typeface="Century" panose="02040604050505020304" pitchFamily="18" charset="0"/>
                <a:cs typeface="Arial" panose="020B0604020202020204" pitchFamily="34" charset="0"/>
              </a:rPr>
              <a:t>ACTIVITY 1: </a:t>
            </a:r>
            <a:r>
              <a:rPr lang="en-US" sz="2400" dirty="0">
                <a:solidFill>
                  <a:srgbClr val="000000"/>
                </a:solidFill>
                <a:latin typeface="Century" panose="02040604050505020304" pitchFamily="18" charset="0"/>
                <a:cs typeface="Arial" panose="020B0604020202020204" pitchFamily="34" charset="0"/>
              </a:rPr>
              <a:t>Follow the Standards. </a:t>
            </a:r>
          </a:p>
          <a:p>
            <a:pPr algn="ctr" defTabSz="609630">
              <a:lnSpc>
                <a:spcPct val="150000"/>
              </a:lnSpc>
            </a:pPr>
            <a:r>
              <a:rPr lang="en-US" sz="2400" b="1" dirty="0">
                <a:solidFill>
                  <a:srgbClr val="000000"/>
                </a:solidFill>
                <a:latin typeface="Century" panose="02040604050505020304" pitchFamily="18" charset="0"/>
                <a:cs typeface="Arial" panose="020B0604020202020204" pitchFamily="34" charset="0"/>
              </a:rPr>
              <a:t>Directions:</a:t>
            </a:r>
            <a:r>
              <a:rPr lang="en-US" sz="2400" dirty="0">
                <a:solidFill>
                  <a:srgbClr val="000000"/>
                </a:solidFill>
                <a:latin typeface="Century" panose="02040604050505020304" pitchFamily="18" charset="0"/>
                <a:cs typeface="Arial" panose="020B0604020202020204" pitchFamily="34" charset="0"/>
              </a:rPr>
              <a:t> I will flash quadratic equations on the screen and the one who will raise his/her hand first will be the one to answer. 1 correct answer is equivalent to 1 point. Whoever got the highest score will receive reward after our discussion.</a:t>
            </a:r>
          </a:p>
          <a:p>
            <a:pPr algn="ctr" defTabSz="609630">
              <a:lnSpc>
                <a:spcPct val="150000"/>
              </a:lnSpc>
            </a:pPr>
            <a:endParaRPr lang="en-US" sz="24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400" dirty="0">
              <a:solidFill>
                <a:srgbClr val="000000"/>
              </a:solidFill>
              <a:latin typeface="Century" panose="020406040505050203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535905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734554"/>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en-US" sz="5000" b="0" i="1" smtClean="0">
                          <a:solidFill>
                            <a:srgbClr val="000000"/>
                          </a:solidFill>
                          <a:latin typeface="Cambria Math" panose="02040503050406030204" pitchFamily="18" charset="0"/>
                        </a:rPr>
                        <m:t>3</m:t>
                      </m:r>
                      <m:sSup>
                        <m:sSupPr>
                          <m:ctrlPr>
                            <a:rPr lang="en-US" sz="5000" b="0" i="1" smtClean="0">
                              <a:solidFill>
                                <a:srgbClr val="000000"/>
                              </a:solidFill>
                              <a:latin typeface="Cambria Math" panose="02040503050406030204" pitchFamily="18" charset="0"/>
                            </a:rPr>
                          </m:ctrlPr>
                        </m:sSupPr>
                        <m:e>
                          <m:r>
                            <a:rPr lang="en-US" sz="5000" b="0" i="1" smtClean="0">
                              <a:solidFill>
                                <a:srgbClr val="000000"/>
                              </a:solidFill>
                              <a:latin typeface="Cambria Math" panose="02040503050406030204" pitchFamily="18" charset="0"/>
                            </a:rPr>
                            <m:t>𝑥</m:t>
                          </m:r>
                        </m:e>
                        <m:sup>
                          <m:r>
                            <a:rPr lang="en-US" sz="5000" b="0" i="1" smtClean="0">
                              <a:solidFill>
                                <a:srgbClr val="000000"/>
                              </a:solidFill>
                              <a:latin typeface="Cambria Math" panose="02040503050406030204" pitchFamily="18" charset="0"/>
                            </a:rPr>
                            <m:t>2</m:t>
                          </m:r>
                        </m:sup>
                      </m:sSup>
                      <m:r>
                        <a:rPr lang="en-US" sz="5000" b="0" i="1" smtClean="0">
                          <a:solidFill>
                            <a:srgbClr val="000000"/>
                          </a:solidFill>
                          <a:latin typeface="Cambria Math" panose="02040503050406030204" pitchFamily="18" charset="0"/>
                        </a:rPr>
                        <m:t>+15</m:t>
                      </m:r>
                      <m:r>
                        <a:rPr lang="en-US" sz="5000" b="0" i="1" smtClean="0">
                          <a:solidFill>
                            <a:srgbClr val="000000"/>
                          </a:solidFill>
                          <a:latin typeface="Cambria Math" panose="02040503050406030204" pitchFamily="18" charset="0"/>
                        </a:rPr>
                        <m:t>𝑥</m:t>
                      </m:r>
                      <m:r>
                        <a:rPr lang="en-US" sz="5000" b="0" i="1" smtClean="0">
                          <a:solidFill>
                            <a:srgbClr val="000000"/>
                          </a:solidFill>
                          <a:latin typeface="Cambria Math" panose="02040503050406030204" pitchFamily="18" charset="0"/>
                        </a:rPr>
                        <m:t>=0</m:t>
                      </m:r>
                    </m:oMath>
                  </m:oMathPara>
                </a14:m>
                <a:endParaRPr lang="en-US" sz="500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734554"/>
                <a:ext cx="5693930" cy="897682"/>
              </a:xfrm>
              <a:prstGeom prst="rect">
                <a:avLst/>
              </a:prstGeom>
              <a:blipFill>
                <a:blip r:embed="rId12"/>
                <a:stretch>
                  <a:fillRect/>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3234634" y="693158"/>
            <a:ext cx="5722732" cy="819327"/>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ANSWER</a:t>
            </a:r>
          </a:p>
        </p:txBody>
      </p:sp>
      <mc:AlternateContent xmlns:mc="http://schemas.openxmlformats.org/markup-compatibility/2006" xmlns:a14="http://schemas.microsoft.com/office/drawing/2010/main">
        <mc:Choice Requires="a14">
          <p:sp>
            <p:nvSpPr>
              <p:cNvPr id="13" name="TextBox 13"/>
              <p:cNvSpPr txBox="1"/>
              <p:nvPr/>
            </p:nvSpPr>
            <p:spPr>
              <a:xfrm>
                <a:off x="3093713" y="3664293"/>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pt-BR" sz="5000" i="1">
                          <a:solidFill>
                            <a:srgbClr val="000000"/>
                          </a:solidFill>
                          <a:latin typeface="Cambria Math" panose="02040503050406030204" pitchFamily="18" charset="0"/>
                        </a:rPr>
                        <m:t>𝑎</m:t>
                      </m:r>
                      <m:r>
                        <a:rPr lang="pt-BR" sz="5000" i="1">
                          <a:solidFill>
                            <a:srgbClr val="000000"/>
                          </a:solidFill>
                          <a:latin typeface="Cambria Math" panose="02040503050406030204" pitchFamily="18" charset="0"/>
                        </a:rPr>
                        <m:t>=3,</m:t>
                      </m:r>
                      <m:r>
                        <a:rPr lang="pt-BR" sz="5000" i="1">
                          <a:solidFill>
                            <a:srgbClr val="000000"/>
                          </a:solidFill>
                          <a:latin typeface="Cambria Math" panose="02040503050406030204" pitchFamily="18" charset="0"/>
                        </a:rPr>
                        <m:t>𝑏</m:t>
                      </m:r>
                      <m:r>
                        <a:rPr lang="pt-BR" sz="5000" i="1">
                          <a:solidFill>
                            <a:srgbClr val="000000"/>
                          </a:solidFill>
                          <a:latin typeface="Cambria Math" panose="02040503050406030204" pitchFamily="18" charset="0"/>
                        </a:rPr>
                        <m:t>=15,</m:t>
                      </m:r>
                      <m:r>
                        <a:rPr lang="pt-BR" sz="5000" i="1">
                          <a:solidFill>
                            <a:srgbClr val="000000"/>
                          </a:solidFill>
                          <a:latin typeface="Cambria Math" panose="02040503050406030204" pitchFamily="18" charset="0"/>
                        </a:rPr>
                        <m:t>𝑐</m:t>
                      </m:r>
                      <m:r>
                        <a:rPr lang="pt-BR" sz="5000" i="1">
                          <a:solidFill>
                            <a:srgbClr val="000000"/>
                          </a:solidFill>
                          <a:latin typeface="Cambria Math" panose="02040503050406030204" pitchFamily="18" charset="0"/>
                        </a:rPr>
                        <m:t>=0</m:t>
                      </m:r>
                    </m:oMath>
                  </m:oMathPara>
                </a14:m>
                <a:endParaRPr lang="en-US" sz="5000" dirty="0">
                  <a:solidFill>
                    <a:srgbClr val="000000"/>
                  </a:solidFill>
                  <a:latin typeface="More Sugar"/>
                </a:endParaRPr>
              </a:p>
            </p:txBody>
          </p:sp>
        </mc:Choice>
        <mc:Fallback xmlns="">
          <p:sp>
            <p:nvSpPr>
              <p:cNvPr id="13" name="TextBox 13"/>
              <p:cNvSpPr txBox="1">
                <a:spLocks noRot="1" noChangeAspect="1" noMove="1" noResize="1" noEditPoints="1" noAdjustHandles="1" noChangeArrowheads="1" noChangeShapeType="1" noTextEdit="1"/>
              </p:cNvSpPr>
              <p:nvPr/>
            </p:nvSpPr>
            <p:spPr>
              <a:xfrm>
                <a:off x="3093713" y="3664293"/>
                <a:ext cx="5693930" cy="897682"/>
              </a:xfrm>
              <a:prstGeom prst="rect">
                <a:avLst/>
              </a:prstGeom>
              <a:blipFill>
                <a:blip r:embed="rId12"/>
                <a:stretch>
                  <a:fillRect/>
                </a:stretch>
              </a:blipFill>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734554"/>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en-US" sz="5000" b="0" i="1" smtClean="0">
                          <a:solidFill>
                            <a:srgbClr val="000000"/>
                          </a:solidFill>
                          <a:latin typeface="Cambria Math" panose="02040503050406030204" pitchFamily="18" charset="0"/>
                        </a:rPr>
                        <m:t>−</m:t>
                      </m:r>
                      <m:sSup>
                        <m:sSupPr>
                          <m:ctrlPr>
                            <a:rPr lang="en-US" sz="5000" b="0" i="1" smtClean="0">
                              <a:solidFill>
                                <a:srgbClr val="000000"/>
                              </a:solidFill>
                              <a:latin typeface="Cambria Math" panose="02040503050406030204" pitchFamily="18" charset="0"/>
                            </a:rPr>
                          </m:ctrlPr>
                        </m:sSupPr>
                        <m:e>
                          <m:r>
                            <a:rPr lang="en-US" sz="5000" b="0" i="1" smtClean="0">
                              <a:solidFill>
                                <a:srgbClr val="000000"/>
                              </a:solidFill>
                              <a:latin typeface="Cambria Math" panose="02040503050406030204" pitchFamily="18" charset="0"/>
                            </a:rPr>
                            <m:t>𝑥</m:t>
                          </m:r>
                        </m:e>
                        <m:sup>
                          <m:r>
                            <a:rPr lang="en-US" sz="5000" b="0" i="1" smtClean="0">
                              <a:solidFill>
                                <a:srgbClr val="000000"/>
                              </a:solidFill>
                              <a:latin typeface="Cambria Math" panose="02040503050406030204" pitchFamily="18" charset="0"/>
                            </a:rPr>
                            <m:t>2</m:t>
                          </m:r>
                        </m:sup>
                      </m:sSup>
                      <m:r>
                        <a:rPr lang="en-US" sz="5000" b="0" i="1" smtClean="0">
                          <a:solidFill>
                            <a:srgbClr val="000000"/>
                          </a:solidFill>
                          <a:latin typeface="Cambria Math" panose="02040503050406030204" pitchFamily="18" charset="0"/>
                        </a:rPr>
                        <m:t>−6</m:t>
                      </m:r>
                      <m:r>
                        <a:rPr lang="en-US" sz="5000" b="0" i="1" smtClean="0">
                          <a:solidFill>
                            <a:srgbClr val="000000"/>
                          </a:solidFill>
                          <a:latin typeface="Cambria Math" panose="02040503050406030204" pitchFamily="18" charset="0"/>
                        </a:rPr>
                        <m:t>𝑥</m:t>
                      </m:r>
                      <m:r>
                        <a:rPr lang="en-US" sz="5000" b="0" i="1" smtClean="0">
                          <a:solidFill>
                            <a:srgbClr val="000000"/>
                          </a:solidFill>
                          <a:latin typeface="Cambria Math" panose="02040503050406030204" pitchFamily="18" charset="0"/>
                        </a:rPr>
                        <m:t>+9=0</m:t>
                      </m:r>
                    </m:oMath>
                  </m:oMathPara>
                </a14:m>
                <a:endParaRPr lang="en-US" sz="500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734554"/>
                <a:ext cx="5693930" cy="89768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77898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3234634" y="693158"/>
            <a:ext cx="5722732" cy="819327"/>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ANSWER</a:t>
            </a:r>
          </a:p>
        </p:txBody>
      </p:sp>
      <mc:AlternateContent xmlns:mc="http://schemas.openxmlformats.org/markup-compatibility/2006" xmlns:a14="http://schemas.microsoft.com/office/drawing/2010/main">
        <mc:Choice Requires="a14">
          <p:sp>
            <p:nvSpPr>
              <p:cNvPr id="13" name="TextBox 13"/>
              <p:cNvSpPr txBox="1"/>
              <p:nvPr/>
            </p:nvSpPr>
            <p:spPr>
              <a:xfrm>
                <a:off x="3093713" y="3664293"/>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pt-BR" sz="4400" i="1">
                          <a:solidFill>
                            <a:srgbClr val="000000"/>
                          </a:solidFill>
                          <a:latin typeface="Cambria Math" panose="02040503050406030204" pitchFamily="18" charset="0"/>
                        </a:rPr>
                        <m:t>𝑎</m:t>
                      </m:r>
                      <m:r>
                        <a:rPr lang="pt-BR" sz="4400" i="1">
                          <a:solidFill>
                            <a:srgbClr val="000000"/>
                          </a:solidFill>
                          <a:latin typeface="Cambria Math" panose="02040503050406030204" pitchFamily="18" charset="0"/>
                        </a:rPr>
                        <m:t>=−1,</m:t>
                      </m:r>
                      <m:r>
                        <a:rPr lang="pt-BR" sz="4400" i="1">
                          <a:solidFill>
                            <a:srgbClr val="000000"/>
                          </a:solidFill>
                          <a:latin typeface="Cambria Math" panose="02040503050406030204" pitchFamily="18" charset="0"/>
                        </a:rPr>
                        <m:t>𝑏</m:t>
                      </m:r>
                      <m:r>
                        <a:rPr lang="pt-BR" sz="4400" i="1">
                          <a:solidFill>
                            <a:srgbClr val="000000"/>
                          </a:solidFill>
                          <a:latin typeface="Cambria Math" panose="02040503050406030204" pitchFamily="18" charset="0"/>
                        </a:rPr>
                        <m:t>=−6,</m:t>
                      </m:r>
                      <m:r>
                        <a:rPr lang="pt-BR" sz="4400" i="1">
                          <a:solidFill>
                            <a:srgbClr val="000000"/>
                          </a:solidFill>
                          <a:latin typeface="Cambria Math" panose="02040503050406030204" pitchFamily="18" charset="0"/>
                        </a:rPr>
                        <m:t>𝑐</m:t>
                      </m:r>
                      <m:r>
                        <a:rPr lang="pt-BR" sz="4400" i="1">
                          <a:solidFill>
                            <a:srgbClr val="000000"/>
                          </a:solidFill>
                          <a:latin typeface="Cambria Math" panose="02040503050406030204" pitchFamily="18" charset="0"/>
                        </a:rPr>
                        <m:t>=9</m:t>
                      </m:r>
                    </m:oMath>
                  </m:oMathPara>
                </a14:m>
                <a:endParaRPr lang="en-US" sz="4400" dirty="0">
                  <a:solidFill>
                    <a:srgbClr val="000000"/>
                  </a:solidFill>
                  <a:latin typeface="More Sugar"/>
                </a:endParaRPr>
              </a:p>
            </p:txBody>
          </p:sp>
        </mc:Choice>
        <mc:Fallback xmlns="">
          <p:sp>
            <p:nvSpPr>
              <p:cNvPr id="13" name="TextBox 13"/>
              <p:cNvSpPr txBox="1">
                <a:spLocks noRot="1" noChangeAspect="1" noMove="1" noResize="1" noEditPoints="1" noAdjustHandles="1" noChangeArrowheads="1" noChangeShapeType="1" noTextEdit="1"/>
              </p:cNvSpPr>
              <p:nvPr/>
            </p:nvSpPr>
            <p:spPr>
              <a:xfrm>
                <a:off x="3093713" y="3664293"/>
                <a:ext cx="5693930" cy="89768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0423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734554"/>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sSup>
                        <m:sSupPr>
                          <m:ctrlPr>
                            <a:rPr lang="en-US" sz="5000" b="0" i="1" smtClean="0">
                              <a:solidFill>
                                <a:srgbClr val="000000"/>
                              </a:solidFill>
                              <a:latin typeface="Cambria Math" panose="02040503050406030204" pitchFamily="18" charset="0"/>
                            </a:rPr>
                          </m:ctrlPr>
                        </m:sSupPr>
                        <m:e>
                          <m:r>
                            <a:rPr lang="en-US" sz="5000" b="0" i="1" smtClean="0">
                              <a:solidFill>
                                <a:srgbClr val="000000"/>
                              </a:solidFill>
                              <a:latin typeface="Cambria Math" panose="02040503050406030204" pitchFamily="18" charset="0"/>
                            </a:rPr>
                            <m:t>𝑥</m:t>
                          </m:r>
                        </m:e>
                        <m:sup>
                          <m:r>
                            <a:rPr lang="en-US" sz="5000" b="0" i="1" smtClean="0">
                              <a:solidFill>
                                <a:srgbClr val="000000"/>
                              </a:solidFill>
                              <a:latin typeface="Cambria Math" panose="02040503050406030204" pitchFamily="18" charset="0"/>
                            </a:rPr>
                            <m:t>2</m:t>
                          </m:r>
                        </m:sup>
                      </m:sSup>
                      <m:r>
                        <a:rPr lang="en-US" sz="5000" b="0" i="1" smtClean="0">
                          <a:solidFill>
                            <a:srgbClr val="000000"/>
                          </a:solidFill>
                          <a:latin typeface="Cambria Math" panose="02040503050406030204" pitchFamily="18" charset="0"/>
                        </a:rPr>
                        <m:t>+11</m:t>
                      </m:r>
                      <m:r>
                        <a:rPr lang="en-US" sz="5000" b="0" i="1" smtClean="0">
                          <a:solidFill>
                            <a:srgbClr val="000000"/>
                          </a:solidFill>
                          <a:latin typeface="Cambria Math" panose="02040503050406030204" pitchFamily="18" charset="0"/>
                        </a:rPr>
                        <m:t>𝑥</m:t>
                      </m:r>
                      <m:r>
                        <a:rPr lang="en-US" sz="5000" b="0" i="1" smtClean="0">
                          <a:solidFill>
                            <a:srgbClr val="000000"/>
                          </a:solidFill>
                          <a:latin typeface="Cambria Math" panose="02040503050406030204" pitchFamily="18" charset="0"/>
                        </a:rPr>
                        <m:t>=−24</m:t>
                      </m:r>
                    </m:oMath>
                  </m:oMathPara>
                </a14:m>
                <a:endParaRPr lang="en-US" sz="500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734554"/>
                <a:ext cx="5693930" cy="89768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25275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3234634" y="693158"/>
            <a:ext cx="5722732" cy="819327"/>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ANSWER</a:t>
            </a:r>
          </a:p>
        </p:txBody>
      </p:sp>
      <mc:AlternateContent xmlns:mc="http://schemas.openxmlformats.org/markup-compatibility/2006" xmlns:a14="http://schemas.microsoft.com/office/drawing/2010/main">
        <mc:Choice Requires="a14">
          <p:sp>
            <p:nvSpPr>
              <p:cNvPr id="13" name="TextBox 13"/>
              <p:cNvSpPr txBox="1"/>
              <p:nvPr/>
            </p:nvSpPr>
            <p:spPr>
              <a:xfrm>
                <a:off x="3093713" y="3664293"/>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pt-BR" sz="4400" i="1">
                          <a:solidFill>
                            <a:srgbClr val="000000"/>
                          </a:solidFill>
                          <a:latin typeface="Cambria Math" panose="02040503050406030204" pitchFamily="18" charset="0"/>
                        </a:rPr>
                        <m:t>𝑎</m:t>
                      </m:r>
                      <m:r>
                        <a:rPr lang="pt-BR" sz="4400" i="1">
                          <a:solidFill>
                            <a:srgbClr val="000000"/>
                          </a:solidFill>
                          <a:latin typeface="Cambria Math" panose="02040503050406030204" pitchFamily="18" charset="0"/>
                        </a:rPr>
                        <m:t>=1,</m:t>
                      </m:r>
                      <m:r>
                        <a:rPr lang="pt-BR" sz="4400" i="1">
                          <a:solidFill>
                            <a:srgbClr val="000000"/>
                          </a:solidFill>
                          <a:latin typeface="Cambria Math" panose="02040503050406030204" pitchFamily="18" charset="0"/>
                        </a:rPr>
                        <m:t>𝑏</m:t>
                      </m:r>
                      <m:r>
                        <a:rPr lang="pt-BR" sz="4400" i="1">
                          <a:solidFill>
                            <a:srgbClr val="000000"/>
                          </a:solidFill>
                          <a:latin typeface="Cambria Math" panose="02040503050406030204" pitchFamily="18" charset="0"/>
                        </a:rPr>
                        <m:t>=12,</m:t>
                      </m:r>
                      <m:r>
                        <a:rPr lang="pt-BR" sz="4400" i="1">
                          <a:solidFill>
                            <a:srgbClr val="000000"/>
                          </a:solidFill>
                          <a:latin typeface="Cambria Math" panose="02040503050406030204" pitchFamily="18" charset="0"/>
                        </a:rPr>
                        <m:t>𝑐</m:t>
                      </m:r>
                      <m:r>
                        <a:rPr lang="pt-BR" sz="4400" i="1">
                          <a:solidFill>
                            <a:srgbClr val="000000"/>
                          </a:solidFill>
                          <a:latin typeface="Cambria Math" panose="02040503050406030204" pitchFamily="18" charset="0"/>
                        </a:rPr>
                        <m:t>=24</m:t>
                      </m:r>
                    </m:oMath>
                  </m:oMathPara>
                </a14:m>
                <a:endParaRPr lang="en-US" sz="4400" dirty="0">
                  <a:solidFill>
                    <a:srgbClr val="000000"/>
                  </a:solidFill>
                  <a:latin typeface="More Sugar"/>
                </a:endParaRPr>
              </a:p>
            </p:txBody>
          </p:sp>
        </mc:Choice>
        <mc:Fallback xmlns="">
          <p:sp>
            <p:nvSpPr>
              <p:cNvPr id="13" name="TextBox 13"/>
              <p:cNvSpPr txBox="1">
                <a:spLocks noRot="1" noChangeAspect="1" noMove="1" noResize="1" noEditPoints="1" noAdjustHandles="1" noChangeArrowheads="1" noChangeShapeType="1" noTextEdit="1"/>
              </p:cNvSpPr>
              <p:nvPr/>
            </p:nvSpPr>
            <p:spPr>
              <a:xfrm>
                <a:off x="3093713" y="3664293"/>
                <a:ext cx="5693930" cy="89768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84363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734554"/>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sSup>
                        <m:sSupPr>
                          <m:ctrlPr>
                            <a:rPr lang="en-US" sz="5000" b="0" i="1" smtClean="0">
                              <a:solidFill>
                                <a:srgbClr val="000000"/>
                              </a:solidFill>
                              <a:latin typeface="Cambria Math" panose="02040503050406030204" pitchFamily="18" charset="0"/>
                            </a:rPr>
                          </m:ctrlPr>
                        </m:sSupPr>
                        <m:e>
                          <m:r>
                            <a:rPr lang="en-US" sz="5000" b="0" i="1" smtClean="0">
                              <a:solidFill>
                                <a:srgbClr val="000000"/>
                              </a:solidFill>
                              <a:latin typeface="Cambria Math" panose="02040503050406030204" pitchFamily="18" charset="0"/>
                            </a:rPr>
                            <m:t>4</m:t>
                          </m:r>
                          <m:r>
                            <a:rPr lang="en-US" sz="5000" b="0" i="1" smtClean="0">
                              <a:solidFill>
                                <a:srgbClr val="000000"/>
                              </a:solidFill>
                              <a:latin typeface="Cambria Math" panose="02040503050406030204" pitchFamily="18" charset="0"/>
                            </a:rPr>
                            <m:t>𝑥</m:t>
                          </m:r>
                        </m:e>
                        <m:sup>
                          <m:r>
                            <a:rPr lang="en-US" sz="5000" b="0" i="1" smtClean="0">
                              <a:solidFill>
                                <a:srgbClr val="000000"/>
                              </a:solidFill>
                              <a:latin typeface="Cambria Math" panose="02040503050406030204" pitchFamily="18" charset="0"/>
                            </a:rPr>
                            <m:t>2</m:t>
                          </m:r>
                        </m:sup>
                      </m:sSup>
                      <m:r>
                        <a:rPr lang="en-US" sz="5000" b="0" i="1" smtClean="0">
                          <a:solidFill>
                            <a:srgbClr val="000000"/>
                          </a:solidFill>
                          <a:latin typeface="Cambria Math" panose="02040503050406030204" pitchFamily="18" charset="0"/>
                        </a:rPr>
                        <m:t>−15=0</m:t>
                      </m:r>
                    </m:oMath>
                  </m:oMathPara>
                </a14:m>
                <a:endParaRPr lang="en-US" sz="500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734554"/>
                <a:ext cx="5693930" cy="89768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21487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3234634" y="693158"/>
            <a:ext cx="5722732" cy="819327"/>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ANSWER</a:t>
            </a:r>
          </a:p>
        </p:txBody>
      </p:sp>
      <mc:AlternateContent xmlns:mc="http://schemas.openxmlformats.org/markup-compatibility/2006" xmlns:a14="http://schemas.microsoft.com/office/drawing/2010/main">
        <mc:Choice Requires="a14">
          <p:sp>
            <p:nvSpPr>
              <p:cNvPr id="13" name="TextBox 13"/>
              <p:cNvSpPr txBox="1"/>
              <p:nvPr/>
            </p:nvSpPr>
            <p:spPr>
              <a:xfrm>
                <a:off x="3093713" y="3664293"/>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pt-BR" sz="4400" i="1">
                          <a:solidFill>
                            <a:srgbClr val="000000"/>
                          </a:solidFill>
                          <a:latin typeface="Cambria Math" panose="02040503050406030204" pitchFamily="18" charset="0"/>
                        </a:rPr>
                        <m:t>𝑎</m:t>
                      </m:r>
                      <m:r>
                        <a:rPr lang="pt-BR" sz="4400" i="1">
                          <a:solidFill>
                            <a:srgbClr val="000000"/>
                          </a:solidFill>
                          <a:latin typeface="Cambria Math" panose="02040503050406030204" pitchFamily="18" charset="0"/>
                        </a:rPr>
                        <m:t>=6,</m:t>
                      </m:r>
                      <m:r>
                        <a:rPr lang="pt-BR" sz="4400" i="1">
                          <a:solidFill>
                            <a:srgbClr val="000000"/>
                          </a:solidFill>
                          <a:latin typeface="Cambria Math" panose="02040503050406030204" pitchFamily="18" charset="0"/>
                        </a:rPr>
                        <m:t>𝑏</m:t>
                      </m:r>
                      <m:r>
                        <a:rPr lang="pt-BR" sz="4400" i="1">
                          <a:solidFill>
                            <a:srgbClr val="000000"/>
                          </a:solidFill>
                          <a:latin typeface="Cambria Math" panose="02040503050406030204" pitchFamily="18" charset="0"/>
                        </a:rPr>
                        <m:t>=18,</m:t>
                      </m:r>
                      <m:r>
                        <a:rPr lang="pt-BR" sz="4400" i="1">
                          <a:solidFill>
                            <a:srgbClr val="000000"/>
                          </a:solidFill>
                          <a:latin typeface="Cambria Math" panose="02040503050406030204" pitchFamily="18" charset="0"/>
                        </a:rPr>
                        <m:t>𝑐</m:t>
                      </m:r>
                      <m:r>
                        <a:rPr lang="pt-BR" sz="4400" i="1">
                          <a:solidFill>
                            <a:srgbClr val="000000"/>
                          </a:solidFill>
                          <a:latin typeface="Cambria Math" panose="02040503050406030204" pitchFamily="18" charset="0"/>
                        </a:rPr>
                        <m:t>=−80</m:t>
                      </m:r>
                    </m:oMath>
                  </m:oMathPara>
                </a14:m>
                <a:endParaRPr lang="en-US" sz="4400" dirty="0">
                  <a:solidFill>
                    <a:srgbClr val="000000"/>
                  </a:solidFill>
                  <a:latin typeface="More Sugar"/>
                </a:endParaRPr>
              </a:p>
            </p:txBody>
          </p:sp>
        </mc:Choice>
        <mc:Fallback xmlns="">
          <p:sp>
            <p:nvSpPr>
              <p:cNvPr id="13" name="TextBox 13"/>
              <p:cNvSpPr txBox="1">
                <a:spLocks noRot="1" noChangeAspect="1" noMove="1" noResize="1" noEditPoints="1" noAdjustHandles="1" noChangeArrowheads="1" noChangeShapeType="1" noTextEdit="1"/>
              </p:cNvSpPr>
              <p:nvPr/>
            </p:nvSpPr>
            <p:spPr>
              <a:xfrm>
                <a:off x="3093713" y="3664293"/>
                <a:ext cx="5693930" cy="89768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71953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734554"/>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en-US" sz="5000" b="0" i="1" smtClean="0">
                          <a:solidFill>
                            <a:srgbClr val="000000"/>
                          </a:solidFill>
                          <a:latin typeface="Cambria Math" panose="02040503050406030204" pitchFamily="18" charset="0"/>
                        </a:rPr>
                        <m:t>6</m:t>
                      </m:r>
                      <m:sSup>
                        <m:sSupPr>
                          <m:ctrlPr>
                            <a:rPr lang="en-US" sz="5000" b="0" i="1" smtClean="0">
                              <a:solidFill>
                                <a:srgbClr val="000000"/>
                              </a:solidFill>
                              <a:latin typeface="Cambria Math" panose="02040503050406030204" pitchFamily="18" charset="0"/>
                            </a:rPr>
                          </m:ctrlPr>
                        </m:sSupPr>
                        <m:e>
                          <m:r>
                            <a:rPr lang="en-US" sz="5000" b="0" i="1" smtClean="0">
                              <a:solidFill>
                                <a:srgbClr val="000000"/>
                              </a:solidFill>
                              <a:latin typeface="Cambria Math" panose="02040503050406030204" pitchFamily="18" charset="0"/>
                            </a:rPr>
                            <m:t>𝑥</m:t>
                          </m:r>
                        </m:e>
                        <m:sup>
                          <m:r>
                            <a:rPr lang="en-US" sz="5000" b="0" i="1" smtClean="0">
                              <a:solidFill>
                                <a:srgbClr val="000000"/>
                              </a:solidFill>
                              <a:latin typeface="Cambria Math" panose="02040503050406030204" pitchFamily="18" charset="0"/>
                            </a:rPr>
                            <m:t>2</m:t>
                          </m:r>
                        </m:sup>
                      </m:sSup>
                      <m:r>
                        <a:rPr lang="en-US" sz="5000" b="0" i="1" smtClean="0">
                          <a:solidFill>
                            <a:srgbClr val="000000"/>
                          </a:solidFill>
                          <a:latin typeface="Cambria Math" panose="02040503050406030204" pitchFamily="18" charset="0"/>
                        </a:rPr>
                        <m:t>+18</m:t>
                      </m:r>
                      <m:r>
                        <a:rPr lang="en-US" sz="5000" b="0" i="1" smtClean="0">
                          <a:solidFill>
                            <a:srgbClr val="000000"/>
                          </a:solidFill>
                          <a:latin typeface="Cambria Math" panose="02040503050406030204" pitchFamily="18" charset="0"/>
                        </a:rPr>
                        <m:t>𝑥</m:t>
                      </m:r>
                      <m:r>
                        <a:rPr lang="en-US" sz="5000" b="0" i="1" smtClean="0">
                          <a:solidFill>
                            <a:srgbClr val="000000"/>
                          </a:solidFill>
                          <a:latin typeface="Cambria Math" panose="02040503050406030204" pitchFamily="18" charset="0"/>
                        </a:rPr>
                        <m:t>−80=0</m:t>
                      </m:r>
                    </m:oMath>
                  </m:oMathPara>
                </a14:m>
                <a:endParaRPr lang="en-US" sz="500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734554"/>
                <a:ext cx="5693930" cy="89768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87591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3234634" y="693158"/>
            <a:ext cx="5722732" cy="819327"/>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ANSWER</a:t>
            </a:r>
          </a:p>
        </p:txBody>
      </p:sp>
      <mc:AlternateContent xmlns:mc="http://schemas.openxmlformats.org/markup-compatibility/2006" xmlns:a14="http://schemas.microsoft.com/office/drawing/2010/main">
        <mc:Choice Requires="a14">
          <p:sp>
            <p:nvSpPr>
              <p:cNvPr id="13" name="TextBox 13"/>
              <p:cNvSpPr txBox="1"/>
              <p:nvPr/>
            </p:nvSpPr>
            <p:spPr>
              <a:xfrm>
                <a:off x="3093713" y="3664293"/>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pt-BR" sz="4400" i="1">
                          <a:solidFill>
                            <a:srgbClr val="000000"/>
                          </a:solidFill>
                          <a:latin typeface="Cambria Math" panose="02040503050406030204" pitchFamily="18" charset="0"/>
                        </a:rPr>
                        <m:t>𝑎</m:t>
                      </m:r>
                      <m:r>
                        <a:rPr lang="pt-BR" sz="4400" i="1">
                          <a:solidFill>
                            <a:srgbClr val="000000"/>
                          </a:solidFill>
                          <a:latin typeface="Cambria Math" panose="02040503050406030204" pitchFamily="18" charset="0"/>
                        </a:rPr>
                        <m:t>=4,</m:t>
                      </m:r>
                      <m:r>
                        <a:rPr lang="pt-BR" sz="4400" i="1">
                          <a:solidFill>
                            <a:srgbClr val="000000"/>
                          </a:solidFill>
                          <a:latin typeface="Cambria Math" panose="02040503050406030204" pitchFamily="18" charset="0"/>
                        </a:rPr>
                        <m:t>𝑏</m:t>
                      </m:r>
                      <m:r>
                        <a:rPr lang="pt-BR" sz="4400" i="1">
                          <a:solidFill>
                            <a:srgbClr val="000000"/>
                          </a:solidFill>
                          <a:latin typeface="Cambria Math" panose="02040503050406030204" pitchFamily="18" charset="0"/>
                        </a:rPr>
                        <m:t>=4,</m:t>
                      </m:r>
                      <m:r>
                        <a:rPr lang="pt-BR" sz="4400" i="1">
                          <a:solidFill>
                            <a:srgbClr val="000000"/>
                          </a:solidFill>
                          <a:latin typeface="Cambria Math" panose="02040503050406030204" pitchFamily="18" charset="0"/>
                        </a:rPr>
                        <m:t>𝑐</m:t>
                      </m:r>
                      <m:r>
                        <a:rPr lang="pt-BR" sz="4400" i="1">
                          <a:solidFill>
                            <a:srgbClr val="000000"/>
                          </a:solidFill>
                          <a:latin typeface="Cambria Math" panose="02040503050406030204" pitchFamily="18" charset="0"/>
                        </a:rPr>
                        <m:t>=−15</m:t>
                      </m:r>
                    </m:oMath>
                  </m:oMathPara>
                </a14:m>
                <a:endParaRPr lang="en-US" sz="4400" dirty="0">
                  <a:solidFill>
                    <a:srgbClr val="000000"/>
                  </a:solidFill>
                  <a:latin typeface="More Sugar"/>
                </a:endParaRPr>
              </a:p>
            </p:txBody>
          </p:sp>
        </mc:Choice>
        <mc:Fallback xmlns="">
          <p:sp>
            <p:nvSpPr>
              <p:cNvPr id="13" name="TextBox 13"/>
              <p:cNvSpPr txBox="1">
                <a:spLocks noRot="1" noChangeAspect="1" noMove="1" noResize="1" noEditPoints="1" noAdjustHandles="1" noChangeArrowheads="1" noChangeShapeType="1" noTextEdit="1"/>
              </p:cNvSpPr>
              <p:nvPr/>
            </p:nvSpPr>
            <p:spPr>
              <a:xfrm>
                <a:off x="3093713" y="3664293"/>
                <a:ext cx="5693930" cy="89768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47110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2028625">
            <a:off x="1402604" y="105387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22148" y="1777367"/>
            <a:ext cx="7098373" cy="5602496"/>
          </a:xfrm>
          <a:prstGeom prst="rect">
            <a:avLst/>
          </a:prstGeom>
        </p:spPr>
        <p:txBody>
          <a:bodyPr lIns="0" tIns="0" rIns="0" bIns="0" rtlCol="0" anchor="t">
            <a:spAutoFit/>
          </a:bodyPr>
          <a:lstStyle/>
          <a:p>
            <a:pPr algn="ctr" defTabSz="609630">
              <a:lnSpc>
                <a:spcPct val="150000"/>
              </a:lnSpc>
            </a:pPr>
            <a:r>
              <a:rPr lang="en-US" sz="2200" b="1" dirty="0">
                <a:solidFill>
                  <a:srgbClr val="000000"/>
                </a:solidFill>
                <a:latin typeface="Century" panose="02040604050505020304" pitchFamily="18" charset="0"/>
                <a:cs typeface="Arial" panose="020B0604020202020204" pitchFamily="34" charset="0"/>
              </a:rPr>
              <a:t>ACTIVITY 2: </a:t>
            </a:r>
            <a:r>
              <a:rPr lang="en-US" sz="2200" dirty="0">
                <a:solidFill>
                  <a:srgbClr val="000000"/>
                </a:solidFill>
                <a:latin typeface="Century" panose="02040604050505020304" pitchFamily="18" charset="0"/>
                <a:cs typeface="Arial" panose="020B0604020202020204" pitchFamily="34" charset="0"/>
              </a:rPr>
              <a:t>Find My Roots.</a:t>
            </a:r>
          </a:p>
          <a:p>
            <a:pPr algn="ctr" defTabSz="609630">
              <a:lnSpc>
                <a:spcPct val="150000"/>
              </a:lnSpc>
            </a:pPr>
            <a:r>
              <a:rPr lang="en-US" sz="2200" dirty="0">
                <a:solidFill>
                  <a:srgbClr val="000000"/>
                </a:solidFill>
                <a:latin typeface="Century" panose="02040604050505020304" pitchFamily="18" charset="0"/>
                <a:cs typeface="Arial" panose="020B0604020202020204" pitchFamily="34" charset="0"/>
              </a:rPr>
              <a:t>In this activity, I will group you into four groups. Work together with your groups to solve the roots of quadratic equation using extracting square roots, factoring, and completing the square. I will flash the equation in the screen, and you are only given 1 minute to solve the problem</a:t>
            </a:r>
            <a:r>
              <a:rPr lang="en-US" sz="2400" dirty="0">
                <a:solidFill>
                  <a:srgbClr val="000000"/>
                </a:solidFill>
                <a:latin typeface="Century" panose="02040604050505020304" pitchFamily="18" charset="0"/>
                <a:cs typeface="Arial" panose="020B0604020202020204" pitchFamily="34" charset="0"/>
              </a:rPr>
              <a:t>. </a:t>
            </a:r>
          </a:p>
          <a:p>
            <a:pPr algn="ctr" defTabSz="609630">
              <a:lnSpc>
                <a:spcPct val="150000"/>
              </a:lnSpc>
            </a:pPr>
            <a:endParaRPr lang="en-US" sz="24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4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400" dirty="0">
              <a:solidFill>
                <a:srgbClr val="000000"/>
              </a:solidFill>
              <a:latin typeface="Century" panose="020406040505050203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146077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3143976" y="2370244"/>
            <a:ext cx="5739381" cy="385490"/>
          </a:xfrm>
          <a:prstGeom prst="rect">
            <a:avLst/>
          </a:prstGeom>
        </p:spPr>
        <p:txBody>
          <a:bodyPr lIns="0" tIns="0" rIns="0" bIns="0" rtlCol="0" anchor="t">
            <a:spAutoFit/>
          </a:bodyPr>
          <a:lstStyle/>
          <a:p>
            <a:pPr algn="ctr" defTabSz="609630">
              <a:lnSpc>
                <a:spcPts val="3267"/>
              </a:lnSpc>
            </a:pPr>
            <a:r>
              <a:rPr lang="en-US" sz="2333" dirty="0">
                <a:solidFill>
                  <a:srgbClr val="000000"/>
                </a:solidFill>
                <a:latin typeface="More Sugar"/>
              </a:rPr>
              <a:t>There are 3 type of quiz</a:t>
            </a:r>
          </a:p>
        </p:txBody>
      </p:sp>
      <p:sp>
        <p:nvSpPr>
          <p:cNvPr id="6" name="Freeform 6"/>
          <p:cNvSpPr/>
          <p:nvPr/>
        </p:nvSpPr>
        <p:spPr>
          <a:xfrm>
            <a:off x="1938548" y="2421044"/>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734554"/>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en-US" sz="4000" b="0" i="1" smtClean="0">
                          <a:solidFill>
                            <a:srgbClr val="000000"/>
                          </a:solidFill>
                          <a:latin typeface="Cambria Math" panose="02040503050406030204" pitchFamily="18" charset="0"/>
                        </a:rPr>
                        <m:t>−</m:t>
                      </m:r>
                      <m:sSup>
                        <m:sSupPr>
                          <m:ctrlPr>
                            <a:rPr lang="en-US" sz="4000" b="0" i="1" smtClean="0">
                              <a:solidFill>
                                <a:srgbClr val="000000"/>
                              </a:solidFill>
                              <a:latin typeface="Cambria Math" panose="02040503050406030204" pitchFamily="18" charset="0"/>
                            </a:rPr>
                          </m:ctrlPr>
                        </m:sSupPr>
                        <m:e>
                          <m:r>
                            <a:rPr lang="en-US" sz="4000" b="0" i="1" smtClean="0">
                              <a:solidFill>
                                <a:srgbClr val="000000"/>
                              </a:solidFill>
                              <a:latin typeface="Cambria Math" panose="02040503050406030204" pitchFamily="18" charset="0"/>
                            </a:rPr>
                            <m:t>16</m:t>
                          </m:r>
                        </m:e>
                        <m:sup>
                          <m:r>
                            <a:rPr lang="en-US" sz="4000" b="0" i="1" smtClean="0">
                              <a:solidFill>
                                <a:srgbClr val="000000"/>
                              </a:solidFill>
                              <a:latin typeface="Cambria Math" panose="02040503050406030204" pitchFamily="18" charset="0"/>
                            </a:rPr>
                            <m:t>2</m:t>
                          </m:r>
                        </m:sup>
                      </m:sSup>
                      <m:r>
                        <a:rPr lang="en-US" sz="4000" b="0" i="1" smtClean="0">
                          <a:solidFill>
                            <a:srgbClr val="000000"/>
                          </a:solidFill>
                          <a:latin typeface="Cambria Math" panose="02040503050406030204" pitchFamily="18" charset="0"/>
                        </a:rPr>
                        <m:t>+3.05+9.14=0</m:t>
                      </m:r>
                    </m:oMath>
                  </m:oMathPara>
                </a14:m>
                <a:endParaRPr lang="en-US" sz="400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734554"/>
                <a:ext cx="5693930" cy="89768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78689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5387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45508" y="2032820"/>
            <a:ext cx="7098373" cy="3940502"/>
          </a:xfrm>
          <a:prstGeom prst="rect">
            <a:avLst/>
          </a:prstGeom>
        </p:spPr>
        <p:txBody>
          <a:bodyPr lIns="0" tIns="0" rIns="0" bIns="0" rtlCol="0" anchor="t">
            <a:spAutoFit/>
          </a:bodyPr>
          <a:lstStyle/>
          <a:p>
            <a:pPr algn="ctr" defTabSz="609630">
              <a:lnSpc>
                <a:spcPct val="150000"/>
              </a:lnSpc>
            </a:pPr>
            <a:r>
              <a:rPr lang="en-US" sz="5400" dirty="0">
                <a:solidFill>
                  <a:srgbClr val="000000"/>
                </a:solidFill>
                <a:latin typeface="Century" panose="02040604050505020304" pitchFamily="18" charset="0"/>
                <a:cs typeface="Arial" panose="020B0604020202020204" pitchFamily="34" charset="0"/>
              </a:rPr>
              <a:t>What do you think is our lesson today?</a:t>
            </a:r>
          </a:p>
          <a:p>
            <a:pPr algn="ctr" defTabSz="609630">
              <a:lnSpc>
                <a:spcPct val="150000"/>
              </a:lnSpc>
            </a:pPr>
            <a:endParaRPr lang="en-US" sz="24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400" dirty="0">
              <a:solidFill>
                <a:srgbClr val="000000"/>
              </a:solidFill>
              <a:latin typeface="Century" panose="020406040505050203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5453753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45508" y="1756950"/>
            <a:ext cx="7098373" cy="5186997"/>
          </a:xfrm>
          <a:prstGeom prst="rect">
            <a:avLst/>
          </a:prstGeom>
        </p:spPr>
        <p:txBody>
          <a:bodyPr lIns="0" tIns="0" rIns="0" bIns="0" rtlCol="0" anchor="t">
            <a:spAutoFit/>
          </a:bodyPr>
          <a:lstStyle/>
          <a:p>
            <a:pPr algn="ctr" defTabSz="609630">
              <a:lnSpc>
                <a:spcPct val="150000"/>
              </a:lnSpc>
            </a:pPr>
            <a:r>
              <a:rPr lang="en-US" sz="5400" dirty="0">
                <a:solidFill>
                  <a:srgbClr val="000000"/>
                </a:solidFill>
                <a:latin typeface="Century" panose="02040604050505020304" pitchFamily="18" charset="0"/>
                <a:cs typeface="Arial" panose="020B0604020202020204" pitchFamily="34" charset="0"/>
              </a:rPr>
              <a:t>Quadratic equations using quadratic formula.</a:t>
            </a:r>
          </a:p>
          <a:p>
            <a:pPr algn="ctr" defTabSz="609630">
              <a:lnSpc>
                <a:spcPct val="150000"/>
              </a:lnSpc>
            </a:pPr>
            <a:endParaRPr lang="en-US" sz="24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400" dirty="0">
              <a:solidFill>
                <a:srgbClr val="000000"/>
              </a:solidFill>
              <a:latin typeface="Century" panose="020406040505050203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462095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16997" y="133749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546813" y="2219894"/>
            <a:ext cx="7098373" cy="3940502"/>
          </a:xfrm>
          <a:prstGeom prst="rect">
            <a:avLst/>
          </a:prstGeom>
        </p:spPr>
        <p:txBody>
          <a:bodyPr lIns="0" tIns="0" rIns="0" bIns="0" rtlCol="0" anchor="t">
            <a:spAutoFit/>
          </a:bodyPr>
          <a:lstStyle/>
          <a:p>
            <a:pPr algn="ctr" defTabSz="609630">
              <a:lnSpc>
                <a:spcPct val="150000"/>
              </a:lnSpc>
            </a:pPr>
            <a:r>
              <a:rPr lang="en-US" sz="5400" b="1" dirty="0">
                <a:solidFill>
                  <a:srgbClr val="000000"/>
                </a:solidFill>
                <a:latin typeface="Century" panose="02040604050505020304" pitchFamily="18" charset="0"/>
                <a:ea typeface="Cambria" panose="02040503050406030204" pitchFamily="18" charset="0"/>
                <a:cs typeface="Arial" panose="020B0604020202020204" pitchFamily="34" charset="0"/>
              </a:rPr>
              <a:t>“Its good to be simple”.</a:t>
            </a:r>
          </a:p>
          <a:p>
            <a:pPr algn="ctr" defTabSz="609630">
              <a:lnSpc>
                <a:spcPct val="150000"/>
              </a:lnSpc>
            </a:pPr>
            <a:endParaRPr lang="en-US" sz="2400" b="1" dirty="0">
              <a:solidFill>
                <a:srgbClr val="000000"/>
              </a:solidFill>
              <a:latin typeface="Century" panose="02040604050505020304" pitchFamily="18" charset="0"/>
              <a:ea typeface="Cambria" panose="02040503050406030204" pitchFamily="18" charset="0"/>
              <a:cs typeface="Arial" panose="020B0604020202020204" pitchFamily="34" charset="0"/>
            </a:endParaRPr>
          </a:p>
          <a:p>
            <a:pPr algn="ctr" defTabSz="609630">
              <a:lnSpc>
                <a:spcPts val="8587"/>
              </a:lnSpc>
            </a:pPr>
            <a:endParaRPr lang="en-US" sz="2400" b="1" dirty="0">
              <a:solidFill>
                <a:srgbClr val="000000"/>
              </a:solidFill>
              <a:latin typeface="Century" panose="020406040505050203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3587966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45508" y="1756950"/>
            <a:ext cx="7098373" cy="5428858"/>
          </a:xfrm>
          <a:prstGeom prst="rect">
            <a:avLst/>
          </a:prstGeom>
        </p:spPr>
        <p:txBody>
          <a:bodyPr lIns="0" tIns="0" rIns="0" bIns="0" rtlCol="0" anchor="t">
            <a:spAutoFit/>
          </a:bodyPr>
          <a:lstStyle/>
          <a:p>
            <a:pPr algn="ctr" defTabSz="609630">
              <a:lnSpc>
                <a:spcPct val="150000"/>
              </a:lnSpc>
            </a:pPr>
            <a:r>
              <a:rPr lang="en-US" sz="2800" b="1" dirty="0">
                <a:solidFill>
                  <a:srgbClr val="000000"/>
                </a:solidFill>
                <a:latin typeface="Century" panose="02040604050505020304" pitchFamily="18" charset="0"/>
                <a:cs typeface="Arial" panose="020B0604020202020204" pitchFamily="34" charset="0"/>
              </a:rPr>
              <a:t>ACTIVITY 3.</a:t>
            </a:r>
          </a:p>
          <a:p>
            <a:pPr algn="ctr" defTabSz="609630">
              <a:lnSpc>
                <a:spcPct val="150000"/>
              </a:lnSpc>
            </a:pPr>
            <a:r>
              <a:rPr lang="en-US" sz="2800" dirty="0">
                <a:solidFill>
                  <a:srgbClr val="000000"/>
                </a:solidFill>
                <a:latin typeface="Century" panose="02040604050505020304" pitchFamily="18" charset="0"/>
                <a:cs typeface="Arial" panose="020B0604020202020204" pitchFamily="34" charset="0"/>
              </a:rPr>
              <a:t>In this activity, you are given 15 seconds to solve each expression. Write your answer in the whiteboard. After I count 1 to 3, each group will raise their answer. </a:t>
            </a: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800" dirty="0">
              <a:solidFill>
                <a:srgbClr val="000000"/>
              </a:solidFill>
              <a:latin typeface="Century" panose="020406040505050203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226775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81539" y="2561379"/>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880766"/>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6+</m:t>
                          </m:r>
                          <m:rad>
                            <m:radPr>
                              <m:degHide m:val="on"/>
                              <m:ctrlPr>
                                <a:rPr lang="en-US" sz="5000" b="0" i="1" smtClean="0">
                                  <a:solidFill>
                                    <a:srgbClr val="000000"/>
                                  </a:solidFill>
                                  <a:latin typeface="Cambria Math" panose="02040503050406030204" pitchFamily="18" charset="0"/>
                                </a:rPr>
                              </m:ctrlPr>
                            </m:radPr>
                            <m:deg/>
                            <m:e>
                              <m:r>
                                <a:rPr lang="en-US" sz="5000" b="0" i="1" smtClean="0">
                                  <a:solidFill>
                                    <a:srgbClr val="000000"/>
                                  </a:solidFill>
                                  <a:latin typeface="Cambria Math" panose="02040503050406030204" pitchFamily="18" charset="0"/>
                                </a:rPr>
                                <m:t>9</m:t>
                              </m:r>
                            </m:e>
                          </m:rad>
                        </m:num>
                        <m:den>
                          <m:r>
                            <a:rPr lang="en-US" sz="5000" b="0" i="1" smtClean="0">
                              <a:solidFill>
                                <a:srgbClr val="000000"/>
                              </a:solidFill>
                              <a:latin typeface="Cambria Math" panose="02040503050406030204" pitchFamily="18" charset="0"/>
                            </a:rPr>
                            <m:t>2(3)</m:t>
                          </m:r>
                        </m:den>
                      </m:f>
                    </m:oMath>
                  </m:oMathPara>
                </a14:m>
                <a:endParaRPr lang="en-US" sz="5000" b="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880766"/>
                <a:ext cx="5693930" cy="897682"/>
              </a:xfrm>
              <a:prstGeom prst="rect">
                <a:avLst/>
              </a:prstGeom>
              <a:blipFill>
                <a:blip r:embed="rId12"/>
                <a:stretch>
                  <a:fillRect t="-56463" b="-23129"/>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437936"/>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ANSWER</a:t>
            </a:r>
          </a:p>
        </p:txBody>
      </p:sp>
      <mc:AlternateContent xmlns:mc="http://schemas.openxmlformats.org/markup-compatibility/2006" xmlns:a14="http://schemas.microsoft.com/office/drawing/2010/main">
        <mc:Choice Requires="a14">
          <p:sp>
            <p:nvSpPr>
              <p:cNvPr id="10" name="TextBox 10"/>
              <p:cNvSpPr txBox="1"/>
              <p:nvPr/>
            </p:nvSpPr>
            <p:spPr>
              <a:xfrm>
                <a:off x="3088846" y="3847781"/>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3</m:t>
                          </m:r>
                        </m:num>
                        <m:den>
                          <m:r>
                            <a:rPr lang="en-US" sz="5000" b="0" i="1" smtClean="0">
                              <a:solidFill>
                                <a:srgbClr val="000000"/>
                              </a:solidFill>
                              <a:latin typeface="Cambria Math" panose="02040503050406030204" pitchFamily="18" charset="0"/>
                            </a:rPr>
                            <m:t>2</m:t>
                          </m:r>
                        </m:den>
                      </m:f>
                    </m:oMath>
                  </m:oMathPara>
                </a14:m>
                <a:endParaRPr lang="en-US" sz="5000" b="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847781"/>
                <a:ext cx="5693930" cy="897682"/>
              </a:xfrm>
              <a:prstGeom prst="rect">
                <a:avLst/>
              </a:prstGeom>
              <a:blipFill>
                <a:blip r:embed="rId12"/>
                <a:stretch>
                  <a:fillRect t="-34694" b="-14966"/>
                </a:stretch>
              </a:blipFill>
            </p:spPr>
            <p:txBody>
              <a:bodyPr/>
              <a:lstStyle/>
              <a:p>
                <a:r>
                  <a:rPr lang="en-US">
                    <a:noFill/>
                  </a:rPr>
                  <a:t> </a:t>
                </a:r>
              </a:p>
            </p:txBody>
          </p:sp>
        </mc:Fallback>
      </mc:AlternateContent>
    </p:spTree>
    <p:extLst>
      <p:ext uri="{BB962C8B-B14F-4D97-AF65-F5344CB8AC3E}">
        <p14:creationId xmlns:p14="http://schemas.microsoft.com/office/powerpoint/2010/main" val="3303290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617672"/>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880766"/>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−6+</m:t>
                          </m:r>
                          <m:rad>
                            <m:radPr>
                              <m:degHide m:val="on"/>
                              <m:ctrlPr>
                                <a:rPr lang="en-US" sz="5000" b="0" i="1" smtClean="0">
                                  <a:solidFill>
                                    <a:srgbClr val="000000"/>
                                  </a:solidFill>
                                  <a:latin typeface="Cambria Math" panose="02040503050406030204" pitchFamily="18" charset="0"/>
                                </a:rPr>
                              </m:ctrlPr>
                            </m:radPr>
                            <m:deg/>
                            <m:e>
                              <m:r>
                                <a:rPr lang="en-US" sz="5000" b="0" i="1" smtClean="0">
                                  <a:solidFill>
                                    <a:srgbClr val="000000"/>
                                  </a:solidFill>
                                  <a:latin typeface="Cambria Math" panose="02040503050406030204" pitchFamily="18" charset="0"/>
                                </a:rPr>
                                <m:t>18</m:t>
                              </m:r>
                            </m:e>
                          </m:rad>
                        </m:num>
                        <m:den>
                          <m:r>
                            <a:rPr lang="en-US" sz="5000" b="0" i="1" smtClean="0">
                              <a:solidFill>
                                <a:srgbClr val="000000"/>
                              </a:solidFill>
                              <a:latin typeface="Cambria Math" panose="02040503050406030204" pitchFamily="18" charset="0"/>
                            </a:rPr>
                            <m:t>2(2)</m:t>
                          </m:r>
                        </m:den>
                      </m:f>
                    </m:oMath>
                  </m:oMathPara>
                </a14:m>
                <a:endParaRPr lang="en-US" sz="5000" b="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880766"/>
                <a:ext cx="5693930" cy="897682"/>
              </a:xfrm>
              <a:prstGeom prst="rect">
                <a:avLst/>
              </a:prstGeom>
              <a:blipFill>
                <a:blip r:embed="rId12"/>
                <a:stretch>
                  <a:fillRect t="-56463" b="-23129"/>
                </a:stretch>
              </a:blipFill>
            </p:spPr>
            <p:txBody>
              <a:bodyPr/>
              <a:lstStyle/>
              <a:p>
                <a:r>
                  <a:rPr lang="en-US">
                    <a:noFill/>
                  </a:rPr>
                  <a:t> </a:t>
                </a:r>
              </a:p>
            </p:txBody>
          </p:sp>
        </mc:Fallback>
      </mc:AlternateContent>
    </p:spTree>
    <p:extLst>
      <p:ext uri="{BB962C8B-B14F-4D97-AF65-F5344CB8AC3E}">
        <p14:creationId xmlns:p14="http://schemas.microsoft.com/office/powerpoint/2010/main" val="1336094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561379"/>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ANSWER</a:t>
            </a:r>
          </a:p>
        </p:txBody>
      </p:sp>
      <mc:AlternateContent xmlns:mc="http://schemas.openxmlformats.org/markup-compatibility/2006" xmlns:a14="http://schemas.microsoft.com/office/drawing/2010/main">
        <mc:Choice Requires="a14">
          <p:sp>
            <p:nvSpPr>
              <p:cNvPr id="10" name="TextBox 10"/>
              <p:cNvSpPr txBox="1"/>
              <p:nvPr/>
            </p:nvSpPr>
            <p:spPr>
              <a:xfrm>
                <a:off x="3088846" y="3847781"/>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−6+3</m:t>
                          </m:r>
                          <m:rad>
                            <m:radPr>
                              <m:degHide m:val="on"/>
                              <m:ctrlPr>
                                <a:rPr lang="en-US" sz="5000" b="0" i="1" smtClean="0">
                                  <a:solidFill>
                                    <a:srgbClr val="000000"/>
                                  </a:solidFill>
                                  <a:latin typeface="Cambria Math" panose="02040503050406030204" pitchFamily="18" charset="0"/>
                                </a:rPr>
                              </m:ctrlPr>
                            </m:radPr>
                            <m:deg/>
                            <m:e>
                              <m:r>
                                <a:rPr lang="en-US" sz="5000" b="0" i="1" smtClean="0">
                                  <a:solidFill>
                                    <a:srgbClr val="000000"/>
                                  </a:solidFill>
                                  <a:latin typeface="Cambria Math" panose="02040503050406030204" pitchFamily="18" charset="0"/>
                                </a:rPr>
                                <m:t>2</m:t>
                              </m:r>
                            </m:e>
                          </m:rad>
                        </m:num>
                        <m:den>
                          <m:r>
                            <a:rPr lang="en-US" sz="5000" b="0" i="1" smtClean="0">
                              <a:solidFill>
                                <a:srgbClr val="000000"/>
                              </a:solidFill>
                              <a:latin typeface="Cambria Math" panose="02040503050406030204" pitchFamily="18" charset="0"/>
                            </a:rPr>
                            <m:t>4</m:t>
                          </m:r>
                        </m:den>
                      </m:f>
                    </m:oMath>
                  </m:oMathPara>
                </a14:m>
                <a:endParaRPr lang="en-US" sz="5000" b="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847781"/>
                <a:ext cx="5693930" cy="897682"/>
              </a:xfrm>
              <a:prstGeom prst="rect">
                <a:avLst/>
              </a:prstGeom>
              <a:blipFill>
                <a:blip r:embed="rId12"/>
                <a:stretch>
                  <a:fillRect t="-44898" b="-19728"/>
                </a:stretch>
              </a:blipFill>
            </p:spPr>
            <p:txBody>
              <a:bodyPr/>
              <a:lstStyle/>
              <a:p>
                <a:r>
                  <a:rPr lang="en-US">
                    <a:noFill/>
                  </a:rPr>
                  <a:t> </a:t>
                </a:r>
              </a:p>
            </p:txBody>
          </p:sp>
        </mc:Fallback>
      </mc:AlternateContent>
    </p:spTree>
    <p:extLst>
      <p:ext uri="{BB962C8B-B14F-4D97-AF65-F5344CB8AC3E}">
        <p14:creationId xmlns:p14="http://schemas.microsoft.com/office/powerpoint/2010/main" val="1774064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561379"/>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880766"/>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−9−</m:t>
                          </m:r>
                          <m:rad>
                            <m:radPr>
                              <m:degHide m:val="on"/>
                              <m:ctrlPr>
                                <a:rPr lang="en-US" sz="5000" b="0" i="1" smtClean="0">
                                  <a:solidFill>
                                    <a:srgbClr val="000000"/>
                                  </a:solidFill>
                                  <a:latin typeface="Cambria Math" panose="02040503050406030204" pitchFamily="18" charset="0"/>
                                </a:rPr>
                              </m:ctrlPr>
                            </m:radPr>
                            <m:deg/>
                            <m:e>
                              <m:r>
                                <a:rPr lang="en-US" sz="5000" b="0" i="1" smtClean="0">
                                  <a:solidFill>
                                    <a:srgbClr val="000000"/>
                                  </a:solidFill>
                                  <a:latin typeface="Cambria Math" panose="02040503050406030204" pitchFamily="18" charset="0"/>
                                </a:rPr>
                                <m:t>24</m:t>
                              </m:r>
                            </m:e>
                          </m:rad>
                        </m:num>
                        <m:den>
                          <m:r>
                            <a:rPr lang="en-US" sz="5000" b="0" i="1" smtClean="0">
                              <a:solidFill>
                                <a:srgbClr val="000000"/>
                              </a:solidFill>
                              <a:latin typeface="Cambria Math" panose="02040503050406030204" pitchFamily="18" charset="0"/>
                            </a:rPr>
                            <m:t>2(2)</m:t>
                          </m:r>
                        </m:den>
                      </m:f>
                    </m:oMath>
                  </m:oMathPara>
                </a14:m>
                <a:endParaRPr lang="en-US" sz="5000" b="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880766"/>
                <a:ext cx="5693930" cy="897682"/>
              </a:xfrm>
              <a:prstGeom prst="rect">
                <a:avLst/>
              </a:prstGeom>
              <a:blipFill>
                <a:blip r:embed="rId12"/>
                <a:stretch>
                  <a:fillRect t="-57143" b="-23129"/>
                </a:stretch>
              </a:blipFill>
            </p:spPr>
            <p:txBody>
              <a:bodyPr/>
              <a:lstStyle/>
              <a:p>
                <a:r>
                  <a:rPr lang="en-US">
                    <a:noFill/>
                  </a:rPr>
                  <a:t> </a:t>
                </a:r>
              </a:p>
            </p:txBody>
          </p:sp>
        </mc:Fallback>
      </mc:AlternateContent>
    </p:spTree>
    <p:extLst>
      <p:ext uri="{BB962C8B-B14F-4D97-AF65-F5344CB8AC3E}">
        <p14:creationId xmlns:p14="http://schemas.microsoft.com/office/powerpoint/2010/main" val="73626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437936"/>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ANSWER</a:t>
            </a:r>
          </a:p>
        </p:txBody>
      </p:sp>
      <mc:AlternateContent xmlns:mc="http://schemas.openxmlformats.org/markup-compatibility/2006" xmlns:a14="http://schemas.microsoft.com/office/drawing/2010/main">
        <mc:Choice Requires="a14">
          <p:sp>
            <p:nvSpPr>
              <p:cNvPr id="10" name="TextBox 10"/>
              <p:cNvSpPr txBox="1"/>
              <p:nvPr/>
            </p:nvSpPr>
            <p:spPr>
              <a:xfrm>
                <a:off x="3088846" y="3847781"/>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−9−2</m:t>
                          </m:r>
                          <m:rad>
                            <m:radPr>
                              <m:degHide m:val="on"/>
                              <m:ctrlPr>
                                <a:rPr lang="en-US" sz="5000" b="0" i="1" smtClean="0">
                                  <a:solidFill>
                                    <a:srgbClr val="000000"/>
                                  </a:solidFill>
                                  <a:latin typeface="Cambria Math" panose="02040503050406030204" pitchFamily="18" charset="0"/>
                                </a:rPr>
                              </m:ctrlPr>
                            </m:radPr>
                            <m:deg/>
                            <m:e>
                              <m:r>
                                <a:rPr lang="en-US" sz="5000" b="0" i="1" smtClean="0">
                                  <a:solidFill>
                                    <a:srgbClr val="000000"/>
                                  </a:solidFill>
                                  <a:latin typeface="Cambria Math" panose="02040503050406030204" pitchFamily="18" charset="0"/>
                                </a:rPr>
                                <m:t>6</m:t>
                              </m:r>
                            </m:e>
                          </m:rad>
                        </m:num>
                        <m:den>
                          <m:r>
                            <a:rPr lang="en-US" sz="5000" b="0" i="1" smtClean="0">
                              <a:solidFill>
                                <a:srgbClr val="000000"/>
                              </a:solidFill>
                              <a:latin typeface="Cambria Math" panose="02040503050406030204" pitchFamily="18" charset="0"/>
                            </a:rPr>
                            <m:t>4</m:t>
                          </m:r>
                        </m:den>
                      </m:f>
                    </m:oMath>
                  </m:oMathPara>
                </a14:m>
                <a:endParaRPr lang="en-US" sz="5000" b="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847781"/>
                <a:ext cx="5693930" cy="897682"/>
              </a:xfrm>
              <a:prstGeom prst="rect">
                <a:avLst/>
              </a:prstGeom>
              <a:blipFill>
                <a:blip r:embed="rId12"/>
                <a:stretch>
                  <a:fillRect t="-44218" b="-19728"/>
                </a:stretch>
              </a:blipFill>
            </p:spPr>
            <p:txBody>
              <a:bodyPr/>
              <a:lstStyle/>
              <a:p>
                <a:r>
                  <a:rPr lang="en-US">
                    <a:noFill/>
                  </a:rPr>
                  <a:t> </a:t>
                </a:r>
              </a:p>
            </p:txBody>
          </p:sp>
        </mc:Fallback>
      </mc:AlternateContent>
    </p:spTree>
    <p:extLst>
      <p:ext uri="{BB962C8B-B14F-4D97-AF65-F5344CB8AC3E}">
        <p14:creationId xmlns:p14="http://schemas.microsoft.com/office/powerpoint/2010/main" val="41079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559092"/>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880766"/>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−10+</m:t>
                          </m:r>
                          <m:rad>
                            <m:radPr>
                              <m:degHide m:val="on"/>
                              <m:ctrlPr>
                                <a:rPr lang="en-US" sz="5000" b="0" i="1" smtClean="0">
                                  <a:solidFill>
                                    <a:srgbClr val="000000"/>
                                  </a:solidFill>
                                  <a:latin typeface="Cambria Math" panose="02040503050406030204" pitchFamily="18" charset="0"/>
                                </a:rPr>
                              </m:ctrlPr>
                            </m:radPr>
                            <m:deg/>
                            <m:e>
                              <m:sSup>
                                <m:sSupPr>
                                  <m:ctrlPr>
                                    <a:rPr lang="en-US" sz="5000" b="0" i="1" smtClean="0">
                                      <a:solidFill>
                                        <a:srgbClr val="000000"/>
                                      </a:solidFill>
                                      <a:latin typeface="Cambria Math" panose="02040503050406030204" pitchFamily="18" charset="0"/>
                                    </a:rPr>
                                  </m:ctrlPr>
                                </m:sSupPr>
                                <m:e>
                                  <m:r>
                                    <a:rPr lang="en-US" sz="5000" b="0" i="1" smtClean="0">
                                      <a:solidFill>
                                        <a:srgbClr val="000000"/>
                                      </a:solidFill>
                                      <a:latin typeface="Cambria Math" panose="02040503050406030204" pitchFamily="18" charset="0"/>
                                    </a:rPr>
                                    <m:t>10</m:t>
                                  </m:r>
                                </m:e>
                                <m:sup>
                                  <m:r>
                                    <a:rPr lang="en-US" sz="5000" b="0" i="1" smtClean="0">
                                      <a:solidFill>
                                        <a:srgbClr val="000000"/>
                                      </a:solidFill>
                                      <a:latin typeface="Cambria Math" panose="02040503050406030204" pitchFamily="18" charset="0"/>
                                    </a:rPr>
                                    <m:t>2</m:t>
                                  </m:r>
                                </m:sup>
                              </m:sSup>
                              <m:r>
                                <a:rPr lang="en-US" sz="5000" b="0" i="1" smtClean="0">
                                  <a:solidFill>
                                    <a:srgbClr val="000000"/>
                                  </a:solidFill>
                                  <a:latin typeface="Cambria Math" panose="02040503050406030204" pitchFamily="18" charset="0"/>
                                </a:rPr>
                                <m:t>−52</m:t>
                              </m:r>
                            </m:e>
                          </m:rad>
                        </m:num>
                        <m:den>
                          <m:r>
                            <a:rPr lang="en-US" sz="5000" b="0" i="1" smtClean="0">
                              <a:solidFill>
                                <a:srgbClr val="000000"/>
                              </a:solidFill>
                              <a:latin typeface="Cambria Math" panose="02040503050406030204" pitchFamily="18" charset="0"/>
                            </a:rPr>
                            <m:t>2(3)</m:t>
                          </m:r>
                        </m:den>
                      </m:f>
                    </m:oMath>
                  </m:oMathPara>
                </a14:m>
                <a:endParaRPr lang="en-US" sz="5000" b="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880766"/>
                <a:ext cx="5693930" cy="897682"/>
              </a:xfrm>
              <a:prstGeom prst="rect">
                <a:avLst/>
              </a:prstGeom>
              <a:blipFill>
                <a:blip r:embed="rId12"/>
                <a:stretch>
                  <a:fillRect t="-59184" b="-23810"/>
                </a:stretch>
              </a:blipFill>
            </p:spPr>
            <p:txBody>
              <a:bodyPr/>
              <a:lstStyle/>
              <a:p>
                <a:r>
                  <a:rPr lang="en-US">
                    <a:noFill/>
                  </a:rPr>
                  <a:t> </a:t>
                </a:r>
              </a:p>
            </p:txBody>
          </p:sp>
        </mc:Fallback>
      </mc:AlternateContent>
    </p:spTree>
    <p:extLst>
      <p:ext uri="{BB962C8B-B14F-4D97-AF65-F5344CB8AC3E}">
        <p14:creationId xmlns:p14="http://schemas.microsoft.com/office/powerpoint/2010/main" val="51114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634565"/>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ANSWER</a:t>
            </a:r>
          </a:p>
        </p:txBody>
      </p:sp>
      <mc:AlternateContent xmlns:mc="http://schemas.openxmlformats.org/markup-compatibility/2006" xmlns:a14="http://schemas.microsoft.com/office/drawing/2010/main">
        <mc:Choice Requires="a14">
          <p:sp>
            <p:nvSpPr>
              <p:cNvPr id="10" name="TextBox 10"/>
              <p:cNvSpPr txBox="1"/>
              <p:nvPr/>
            </p:nvSpPr>
            <p:spPr>
              <a:xfrm>
                <a:off x="3088846" y="3847781"/>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−5+2</m:t>
                          </m:r>
                          <m:rad>
                            <m:radPr>
                              <m:degHide m:val="on"/>
                              <m:ctrlPr>
                                <a:rPr lang="en-US" sz="5000" b="0" i="1" smtClean="0">
                                  <a:solidFill>
                                    <a:srgbClr val="000000"/>
                                  </a:solidFill>
                                  <a:latin typeface="Cambria Math" panose="02040503050406030204" pitchFamily="18" charset="0"/>
                                </a:rPr>
                              </m:ctrlPr>
                            </m:radPr>
                            <m:deg/>
                            <m:e>
                              <m:r>
                                <a:rPr lang="en-US" sz="5000" b="0" i="1" smtClean="0">
                                  <a:solidFill>
                                    <a:srgbClr val="000000"/>
                                  </a:solidFill>
                                  <a:latin typeface="Cambria Math" panose="02040503050406030204" pitchFamily="18" charset="0"/>
                                </a:rPr>
                                <m:t>3</m:t>
                              </m:r>
                            </m:e>
                          </m:rad>
                        </m:num>
                        <m:den>
                          <m:r>
                            <a:rPr lang="en-US" sz="5000" b="0" i="1" smtClean="0">
                              <a:solidFill>
                                <a:srgbClr val="000000"/>
                              </a:solidFill>
                              <a:latin typeface="Cambria Math" panose="02040503050406030204" pitchFamily="18" charset="0"/>
                            </a:rPr>
                            <m:t>3</m:t>
                          </m:r>
                        </m:den>
                      </m:f>
                    </m:oMath>
                  </m:oMathPara>
                </a14:m>
                <a:endParaRPr lang="en-US" sz="5000" b="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847781"/>
                <a:ext cx="5693930" cy="897682"/>
              </a:xfrm>
              <a:prstGeom prst="rect">
                <a:avLst/>
              </a:prstGeom>
              <a:blipFill>
                <a:blip r:embed="rId12"/>
                <a:stretch>
                  <a:fillRect t="-44218" b="-20408"/>
                </a:stretch>
              </a:blipFill>
            </p:spPr>
            <p:txBody>
              <a:bodyPr/>
              <a:lstStyle/>
              <a:p>
                <a:r>
                  <a:rPr lang="en-US">
                    <a:noFill/>
                  </a:rPr>
                  <a:t> </a:t>
                </a:r>
              </a:p>
            </p:txBody>
          </p:sp>
        </mc:Fallback>
      </mc:AlternateContent>
    </p:spTree>
    <p:extLst>
      <p:ext uri="{BB962C8B-B14F-4D97-AF65-F5344CB8AC3E}">
        <p14:creationId xmlns:p14="http://schemas.microsoft.com/office/powerpoint/2010/main" val="4017342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588176"/>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EQUATION</a:t>
            </a:r>
          </a:p>
        </p:txBody>
      </p:sp>
      <mc:AlternateContent xmlns:mc="http://schemas.openxmlformats.org/markup-compatibility/2006" xmlns:a14="http://schemas.microsoft.com/office/drawing/2010/main">
        <mc:Choice Requires="a14">
          <p:sp>
            <p:nvSpPr>
              <p:cNvPr id="10" name="TextBox 10"/>
              <p:cNvSpPr txBox="1"/>
              <p:nvPr/>
            </p:nvSpPr>
            <p:spPr>
              <a:xfrm>
                <a:off x="3088846" y="3880766"/>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−5+</m:t>
                          </m:r>
                          <m:rad>
                            <m:radPr>
                              <m:degHide m:val="on"/>
                              <m:ctrlPr>
                                <a:rPr lang="en-US" sz="5000" b="0" i="1" smtClean="0">
                                  <a:solidFill>
                                    <a:srgbClr val="000000"/>
                                  </a:solidFill>
                                  <a:latin typeface="Cambria Math" panose="02040503050406030204" pitchFamily="18" charset="0"/>
                                </a:rPr>
                              </m:ctrlPr>
                            </m:radPr>
                            <m:deg/>
                            <m:e>
                              <m:sSup>
                                <m:sSupPr>
                                  <m:ctrlPr>
                                    <a:rPr lang="en-US" sz="5000" b="0" i="1" smtClean="0">
                                      <a:solidFill>
                                        <a:srgbClr val="000000"/>
                                      </a:solidFill>
                                      <a:latin typeface="Cambria Math" panose="02040503050406030204" pitchFamily="18" charset="0"/>
                                    </a:rPr>
                                  </m:ctrlPr>
                                </m:sSupPr>
                                <m:e>
                                  <m:r>
                                    <a:rPr lang="en-US" sz="5000" b="0" i="1" smtClean="0">
                                      <a:solidFill>
                                        <a:srgbClr val="000000"/>
                                      </a:solidFill>
                                      <a:latin typeface="Cambria Math" panose="02040503050406030204" pitchFamily="18" charset="0"/>
                                    </a:rPr>
                                    <m:t>5</m:t>
                                  </m:r>
                                </m:e>
                                <m:sup>
                                  <m:r>
                                    <a:rPr lang="en-US" sz="5000" b="0" i="1" smtClean="0">
                                      <a:solidFill>
                                        <a:srgbClr val="000000"/>
                                      </a:solidFill>
                                      <a:latin typeface="Cambria Math" panose="02040503050406030204" pitchFamily="18" charset="0"/>
                                    </a:rPr>
                                    <m:t>2</m:t>
                                  </m:r>
                                </m:sup>
                              </m:sSup>
                              <m:r>
                                <a:rPr lang="en-US" sz="5000" b="0" i="1" smtClean="0">
                                  <a:solidFill>
                                    <a:srgbClr val="000000"/>
                                  </a:solidFill>
                                  <a:latin typeface="Cambria Math" panose="02040503050406030204" pitchFamily="18" charset="0"/>
                                </a:rPr>
                                <m:t>−4(3)(−2)</m:t>
                              </m:r>
                            </m:e>
                          </m:rad>
                        </m:num>
                        <m:den>
                          <m:r>
                            <a:rPr lang="en-US" sz="5000" b="0" i="1" smtClean="0">
                              <a:solidFill>
                                <a:srgbClr val="000000"/>
                              </a:solidFill>
                              <a:latin typeface="Cambria Math" panose="02040503050406030204" pitchFamily="18" charset="0"/>
                            </a:rPr>
                            <m:t>2(3)</m:t>
                          </m:r>
                        </m:den>
                      </m:f>
                    </m:oMath>
                  </m:oMathPara>
                </a14:m>
                <a:endParaRPr lang="en-US" sz="5000" b="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880766"/>
                <a:ext cx="5693930" cy="897682"/>
              </a:xfrm>
              <a:prstGeom prst="rect">
                <a:avLst/>
              </a:prstGeom>
              <a:blipFill>
                <a:blip r:embed="rId12"/>
                <a:stretch>
                  <a:fillRect l="-4390" t="-60544" r="-1713" b="-24490"/>
                </a:stretch>
              </a:blipFill>
            </p:spPr>
            <p:txBody>
              <a:bodyPr/>
              <a:lstStyle/>
              <a:p>
                <a:r>
                  <a:rPr lang="en-US">
                    <a:noFill/>
                  </a:rPr>
                  <a:t> </a:t>
                </a:r>
              </a:p>
            </p:txBody>
          </p:sp>
        </mc:Fallback>
      </mc:AlternateContent>
    </p:spTree>
    <p:extLst>
      <p:ext uri="{BB962C8B-B14F-4D97-AF65-F5344CB8AC3E}">
        <p14:creationId xmlns:p14="http://schemas.microsoft.com/office/powerpoint/2010/main" val="546713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634565"/>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ANSWER</a:t>
            </a:r>
          </a:p>
        </p:txBody>
      </p:sp>
      <mc:AlternateContent xmlns:mc="http://schemas.openxmlformats.org/markup-compatibility/2006" xmlns:a14="http://schemas.microsoft.com/office/drawing/2010/main">
        <mc:Choice Requires="a14">
          <p:sp>
            <p:nvSpPr>
              <p:cNvPr id="10" name="TextBox 10"/>
              <p:cNvSpPr txBox="1"/>
              <p:nvPr/>
            </p:nvSpPr>
            <p:spPr>
              <a:xfrm>
                <a:off x="3088846" y="3847781"/>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1</m:t>
                          </m:r>
                        </m:num>
                        <m:den>
                          <m:r>
                            <a:rPr lang="en-US" sz="5000" b="0" i="1" smtClean="0">
                              <a:solidFill>
                                <a:srgbClr val="000000"/>
                              </a:solidFill>
                              <a:latin typeface="Cambria Math" panose="02040503050406030204" pitchFamily="18" charset="0"/>
                            </a:rPr>
                            <m:t>3</m:t>
                          </m:r>
                        </m:den>
                      </m:f>
                    </m:oMath>
                  </m:oMathPara>
                </a14:m>
                <a:endParaRPr lang="en-US" sz="5000" b="0" dirty="0">
                  <a:solidFill>
                    <a:srgbClr val="000000"/>
                  </a:solidFill>
                  <a:latin typeface="More Sugar"/>
                </a:endParaRPr>
              </a:p>
            </p:txBody>
          </p:sp>
        </mc:Choice>
        <mc:Fallback xmlns="">
          <p:sp>
            <p:nvSpPr>
              <p:cNvPr id="10" name="TextBox 10"/>
              <p:cNvSpPr txBox="1">
                <a:spLocks noRot="1" noChangeAspect="1" noMove="1" noResize="1" noEditPoints="1" noAdjustHandles="1" noChangeArrowheads="1" noChangeShapeType="1" noTextEdit="1"/>
              </p:cNvSpPr>
              <p:nvPr/>
            </p:nvSpPr>
            <p:spPr>
              <a:xfrm>
                <a:off x="3088846" y="3847781"/>
                <a:ext cx="5693930" cy="897682"/>
              </a:xfrm>
              <a:prstGeom prst="rect">
                <a:avLst/>
              </a:prstGeom>
              <a:blipFill>
                <a:blip r:embed="rId12"/>
                <a:stretch>
                  <a:fillRect t="-34694" b="-15646"/>
                </a:stretch>
              </a:blipFill>
            </p:spPr>
            <p:txBody>
              <a:bodyPr/>
              <a:lstStyle/>
              <a:p>
                <a:r>
                  <a:rPr lang="en-US">
                    <a:noFill/>
                  </a:rPr>
                  <a:t> </a:t>
                </a:r>
              </a:p>
            </p:txBody>
          </p:sp>
        </mc:Fallback>
      </mc:AlternateContent>
    </p:spTree>
    <p:extLst>
      <p:ext uri="{BB962C8B-B14F-4D97-AF65-F5344CB8AC3E}">
        <p14:creationId xmlns:p14="http://schemas.microsoft.com/office/powerpoint/2010/main" val="3955231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561379"/>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3234634" y="693158"/>
            <a:ext cx="5722732" cy="1740220"/>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QUADRATIC FORMULA</a:t>
            </a:r>
          </a:p>
        </p:txBody>
      </p:sp>
      <mc:AlternateContent xmlns:mc="http://schemas.openxmlformats.org/markup-compatibility/2006" xmlns:a14="http://schemas.microsoft.com/office/drawing/2010/main">
        <mc:Choice Requires="a14">
          <p:sp>
            <p:nvSpPr>
              <p:cNvPr id="13" name="TextBox 13"/>
              <p:cNvSpPr txBox="1"/>
              <p:nvPr/>
            </p:nvSpPr>
            <p:spPr>
              <a:xfrm>
                <a:off x="3093713" y="3847781"/>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en-US" sz="5000" b="0" i="1" smtClean="0">
                          <a:solidFill>
                            <a:srgbClr val="000000"/>
                          </a:solidFill>
                          <a:latin typeface="Cambria Math" panose="02040503050406030204" pitchFamily="18" charset="0"/>
                        </a:rPr>
                        <m:t>𝑥</m:t>
                      </m:r>
                      <m:r>
                        <a:rPr lang="en-US" sz="5000" b="0" i="1" smtClean="0">
                          <a:solidFill>
                            <a:srgbClr val="000000"/>
                          </a:solidFill>
                          <a:latin typeface="Cambria Math" panose="02040503050406030204" pitchFamily="18" charset="0"/>
                        </a:rPr>
                        <m:t>=</m:t>
                      </m:r>
                      <m:f>
                        <m:fPr>
                          <m:ctrlPr>
                            <a:rPr lang="en-US" sz="5000" b="0" i="1" smtClean="0">
                              <a:solidFill>
                                <a:srgbClr val="000000"/>
                              </a:solidFill>
                              <a:latin typeface="Cambria Math" panose="02040503050406030204" pitchFamily="18" charset="0"/>
                            </a:rPr>
                          </m:ctrlPr>
                        </m:fPr>
                        <m:num>
                          <m:r>
                            <a:rPr lang="en-US" sz="5000" b="0" i="1" smtClean="0">
                              <a:solidFill>
                                <a:srgbClr val="000000"/>
                              </a:solidFill>
                              <a:latin typeface="Cambria Math" panose="02040503050406030204" pitchFamily="18" charset="0"/>
                            </a:rPr>
                            <m:t>−</m:t>
                          </m:r>
                          <m:r>
                            <a:rPr lang="en-US" sz="5000" b="0" i="1" smtClean="0">
                              <a:solidFill>
                                <a:srgbClr val="000000"/>
                              </a:solidFill>
                              <a:latin typeface="Cambria Math" panose="02040503050406030204" pitchFamily="18" charset="0"/>
                            </a:rPr>
                            <m:t>𝑏</m:t>
                          </m:r>
                          <m:r>
                            <a:rPr lang="en-US" sz="5000" b="0" i="1" smtClean="0">
                              <a:solidFill>
                                <a:srgbClr val="000000"/>
                              </a:solidFill>
                              <a:latin typeface="Cambria Math" panose="02040503050406030204" pitchFamily="18" charset="0"/>
                              <a:ea typeface="Cambria Math" panose="02040503050406030204" pitchFamily="18" charset="0"/>
                            </a:rPr>
                            <m:t>±</m:t>
                          </m:r>
                          <m:rad>
                            <m:radPr>
                              <m:degHide m:val="on"/>
                              <m:ctrlPr>
                                <a:rPr lang="en-US" sz="5000" b="0" i="1" smtClean="0">
                                  <a:solidFill>
                                    <a:srgbClr val="000000"/>
                                  </a:solidFill>
                                  <a:latin typeface="Cambria Math" panose="02040503050406030204" pitchFamily="18" charset="0"/>
                                  <a:ea typeface="Cambria Math" panose="02040503050406030204" pitchFamily="18" charset="0"/>
                                </a:rPr>
                              </m:ctrlPr>
                            </m:radPr>
                            <m:deg/>
                            <m:e>
                              <m:sSup>
                                <m:sSupPr>
                                  <m:ctrlPr>
                                    <a:rPr lang="en-US" sz="5000" b="0" i="1" smtClean="0">
                                      <a:solidFill>
                                        <a:srgbClr val="000000"/>
                                      </a:solidFill>
                                      <a:latin typeface="Cambria Math" panose="02040503050406030204" pitchFamily="18" charset="0"/>
                                      <a:ea typeface="Cambria Math" panose="02040503050406030204" pitchFamily="18" charset="0"/>
                                    </a:rPr>
                                  </m:ctrlPr>
                                </m:sSupPr>
                                <m:e>
                                  <m:r>
                                    <a:rPr lang="en-US" sz="5000" b="0" i="1" smtClean="0">
                                      <a:solidFill>
                                        <a:srgbClr val="000000"/>
                                      </a:solidFill>
                                      <a:latin typeface="Cambria Math" panose="02040503050406030204" pitchFamily="18" charset="0"/>
                                      <a:ea typeface="Cambria Math" panose="02040503050406030204" pitchFamily="18" charset="0"/>
                                    </a:rPr>
                                    <m:t>𝑏</m:t>
                                  </m:r>
                                </m:e>
                                <m:sup>
                                  <m:r>
                                    <a:rPr lang="en-US" sz="5000" b="0" i="1" smtClean="0">
                                      <a:solidFill>
                                        <a:srgbClr val="000000"/>
                                      </a:solidFill>
                                      <a:latin typeface="Cambria Math" panose="02040503050406030204" pitchFamily="18" charset="0"/>
                                      <a:ea typeface="Cambria Math" panose="02040503050406030204" pitchFamily="18" charset="0"/>
                                    </a:rPr>
                                    <m:t>2</m:t>
                                  </m:r>
                                </m:sup>
                              </m:sSup>
                              <m:r>
                                <a:rPr lang="en-US" sz="5000" b="0" i="1" smtClean="0">
                                  <a:solidFill>
                                    <a:srgbClr val="000000"/>
                                  </a:solidFill>
                                  <a:latin typeface="Cambria Math" panose="02040503050406030204" pitchFamily="18" charset="0"/>
                                  <a:ea typeface="Cambria Math" panose="02040503050406030204" pitchFamily="18" charset="0"/>
                                </a:rPr>
                                <m:t>−4</m:t>
                              </m:r>
                              <m:r>
                                <a:rPr lang="en-US" sz="5000" b="0" i="1" smtClean="0">
                                  <a:solidFill>
                                    <a:srgbClr val="000000"/>
                                  </a:solidFill>
                                  <a:latin typeface="Cambria Math" panose="02040503050406030204" pitchFamily="18" charset="0"/>
                                  <a:ea typeface="Cambria Math" panose="02040503050406030204" pitchFamily="18" charset="0"/>
                                </a:rPr>
                                <m:t>𝑎𝑐</m:t>
                              </m:r>
                            </m:e>
                          </m:rad>
                        </m:num>
                        <m:den>
                          <m:r>
                            <a:rPr lang="en-US" sz="5000" b="0" i="1" smtClean="0">
                              <a:solidFill>
                                <a:srgbClr val="000000"/>
                              </a:solidFill>
                              <a:latin typeface="Cambria Math" panose="02040503050406030204" pitchFamily="18" charset="0"/>
                            </a:rPr>
                            <m:t>2</m:t>
                          </m:r>
                          <m:r>
                            <a:rPr lang="en-US" sz="5000" b="0" i="1" smtClean="0">
                              <a:solidFill>
                                <a:srgbClr val="000000"/>
                              </a:solidFill>
                              <a:latin typeface="Cambria Math" panose="02040503050406030204" pitchFamily="18" charset="0"/>
                            </a:rPr>
                            <m:t>𝑎</m:t>
                          </m:r>
                        </m:den>
                      </m:f>
                    </m:oMath>
                  </m:oMathPara>
                </a14:m>
                <a:endParaRPr lang="en-US" sz="5000" dirty="0">
                  <a:solidFill>
                    <a:srgbClr val="000000"/>
                  </a:solidFill>
                  <a:latin typeface="More Sugar"/>
                </a:endParaRPr>
              </a:p>
            </p:txBody>
          </p:sp>
        </mc:Choice>
        <mc:Fallback xmlns="">
          <p:sp>
            <p:nvSpPr>
              <p:cNvPr id="13" name="TextBox 13"/>
              <p:cNvSpPr txBox="1">
                <a:spLocks noRot="1" noChangeAspect="1" noMove="1" noResize="1" noEditPoints="1" noAdjustHandles="1" noChangeArrowheads="1" noChangeShapeType="1" noTextEdit="1"/>
              </p:cNvSpPr>
              <p:nvPr/>
            </p:nvSpPr>
            <p:spPr>
              <a:xfrm>
                <a:off x="3093713" y="3847781"/>
                <a:ext cx="5693930" cy="897682"/>
              </a:xfrm>
              <a:prstGeom prst="rect">
                <a:avLst/>
              </a:prstGeom>
              <a:blipFill>
                <a:blip r:embed="rId12"/>
                <a:stretch>
                  <a:fillRect l="-428" t="-46939" b="-21088"/>
                </a:stretch>
              </a:blipFill>
            </p:spPr>
            <p:txBody>
              <a:bodyPr/>
              <a:lstStyle/>
              <a:p>
                <a:r>
                  <a:rPr lang="en-US">
                    <a:noFill/>
                  </a:rPr>
                  <a:t> </a:t>
                </a:r>
              </a:p>
            </p:txBody>
          </p:sp>
        </mc:Fallback>
      </mc:AlternateContent>
    </p:spTree>
    <p:extLst>
      <p:ext uri="{BB962C8B-B14F-4D97-AF65-F5344CB8AC3E}">
        <p14:creationId xmlns:p14="http://schemas.microsoft.com/office/powerpoint/2010/main" val="36605060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938547" y="2561379"/>
            <a:ext cx="8314906" cy="3751157"/>
          </a:xfrm>
          <a:custGeom>
            <a:avLst/>
            <a:gdLst/>
            <a:ahLst/>
            <a:cxnLst/>
            <a:rect l="l" t="t" r="r" b="b"/>
            <a:pathLst>
              <a:path w="12472359" h="5626735">
                <a:moveTo>
                  <a:pt x="0" y="0"/>
                </a:moveTo>
                <a:lnTo>
                  <a:pt x="12472358" y="0"/>
                </a:lnTo>
                <a:lnTo>
                  <a:pt x="12472358" y="5626735"/>
                </a:lnTo>
                <a:lnTo>
                  <a:pt x="0" y="5626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p:cNvSpPr/>
          <p:nvPr/>
        </p:nvSpPr>
        <p:spPr>
          <a:xfrm rot="8100000" flipV="1">
            <a:off x="10756722" y="463837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9446203" y="-942153"/>
            <a:ext cx="3439380" cy="3680270"/>
          </a:xfrm>
          <a:custGeom>
            <a:avLst/>
            <a:gdLst/>
            <a:ahLst/>
            <a:cxnLst/>
            <a:rect l="l" t="t" r="r" b="b"/>
            <a:pathLst>
              <a:path w="5159070" h="5520405">
                <a:moveTo>
                  <a:pt x="0" y="0"/>
                </a:moveTo>
                <a:lnTo>
                  <a:pt x="5159070" y="0"/>
                </a:lnTo>
                <a:lnTo>
                  <a:pt x="5159070" y="5520406"/>
                </a:lnTo>
                <a:lnTo>
                  <a:pt x="0" y="55204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3234634" y="693158"/>
            <a:ext cx="5722732" cy="842538"/>
          </a:xfrm>
          <a:prstGeom prst="rect">
            <a:avLst/>
          </a:prstGeom>
        </p:spPr>
        <p:txBody>
          <a:bodyPr lIns="0" tIns="0" rIns="0" bIns="0" rtlCol="0" anchor="t">
            <a:spAutoFit/>
          </a:bodyPr>
          <a:lstStyle/>
          <a:p>
            <a:pPr algn="ctr" defTabSz="609630">
              <a:lnSpc>
                <a:spcPts val="7000"/>
              </a:lnSpc>
            </a:pPr>
            <a:r>
              <a:rPr lang="en-US" sz="5000" dirty="0">
                <a:solidFill>
                  <a:srgbClr val="000000"/>
                </a:solidFill>
                <a:latin typeface="More Sugar"/>
              </a:rPr>
              <a:t>STANDARD FORM</a:t>
            </a:r>
          </a:p>
        </p:txBody>
      </p:sp>
      <mc:AlternateContent xmlns:mc="http://schemas.openxmlformats.org/markup-compatibility/2006" xmlns:a14="http://schemas.microsoft.com/office/drawing/2010/main">
        <mc:Choice Requires="a14">
          <p:sp>
            <p:nvSpPr>
              <p:cNvPr id="13" name="TextBox 13"/>
              <p:cNvSpPr txBox="1"/>
              <p:nvPr/>
            </p:nvSpPr>
            <p:spPr>
              <a:xfrm>
                <a:off x="3093713" y="3847781"/>
                <a:ext cx="5693930" cy="897682"/>
              </a:xfrm>
              <a:prstGeom prst="rect">
                <a:avLst/>
              </a:prstGeom>
            </p:spPr>
            <p:txBody>
              <a:bodyPr lIns="0" tIns="0" rIns="0" bIns="0" rtlCol="0" anchor="t">
                <a:spAutoFit/>
              </a:bodyPr>
              <a:lstStyle/>
              <a:p>
                <a:pPr algn="ctr" defTabSz="609630">
                  <a:lnSpc>
                    <a:spcPts val="7000"/>
                  </a:lnSpc>
                </a:pPr>
                <a14:m>
                  <m:oMathPara xmlns:m="http://schemas.openxmlformats.org/officeDocument/2006/math">
                    <m:oMathParaPr>
                      <m:jc m:val="centerGroup"/>
                    </m:oMathParaPr>
                    <m:oMath xmlns:m="http://schemas.openxmlformats.org/officeDocument/2006/math">
                      <m:r>
                        <a:rPr lang="en-US" sz="5000" b="0" i="1" smtClean="0">
                          <a:solidFill>
                            <a:srgbClr val="000000"/>
                          </a:solidFill>
                          <a:latin typeface="Cambria Math" panose="02040503050406030204" pitchFamily="18" charset="0"/>
                        </a:rPr>
                        <m:t>𝑎</m:t>
                      </m:r>
                      <m:sSup>
                        <m:sSupPr>
                          <m:ctrlPr>
                            <a:rPr lang="en-US" sz="5000" b="0" i="1" smtClean="0">
                              <a:solidFill>
                                <a:srgbClr val="000000"/>
                              </a:solidFill>
                              <a:latin typeface="Cambria Math" panose="02040503050406030204" pitchFamily="18" charset="0"/>
                            </a:rPr>
                          </m:ctrlPr>
                        </m:sSupPr>
                        <m:e>
                          <m:r>
                            <a:rPr lang="en-US" sz="5000" b="0" i="1" smtClean="0">
                              <a:solidFill>
                                <a:srgbClr val="000000"/>
                              </a:solidFill>
                              <a:latin typeface="Cambria Math" panose="02040503050406030204" pitchFamily="18" charset="0"/>
                            </a:rPr>
                            <m:t>𝑥</m:t>
                          </m:r>
                        </m:e>
                        <m:sup>
                          <m:r>
                            <a:rPr lang="en-US" sz="5000" b="0" i="1" smtClean="0">
                              <a:solidFill>
                                <a:srgbClr val="000000"/>
                              </a:solidFill>
                              <a:latin typeface="Cambria Math" panose="02040503050406030204" pitchFamily="18" charset="0"/>
                            </a:rPr>
                            <m:t>2</m:t>
                          </m:r>
                        </m:sup>
                      </m:sSup>
                      <m:r>
                        <a:rPr lang="en-US" sz="5000" b="0" i="1" smtClean="0">
                          <a:solidFill>
                            <a:srgbClr val="000000"/>
                          </a:solidFill>
                          <a:latin typeface="Cambria Math" panose="02040503050406030204" pitchFamily="18" charset="0"/>
                        </a:rPr>
                        <m:t>+</m:t>
                      </m:r>
                      <m:r>
                        <a:rPr lang="en-US" sz="5000" b="0" i="1" smtClean="0">
                          <a:solidFill>
                            <a:srgbClr val="000000"/>
                          </a:solidFill>
                          <a:latin typeface="Cambria Math" panose="02040503050406030204" pitchFamily="18" charset="0"/>
                        </a:rPr>
                        <m:t>𝑏𝑥</m:t>
                      </m:r>
                      <m:r>
                        <a:rPr lang="en-US" sz="5000" b="0" i="1" smtClean="0">
                          <a:solidFill>
                            <a:srgbClr val="000000"/>
                          </a:solidFill>
                          <a:latin typeface="Cambria Math" panose="02040503050406030204" pitchFamily="18" charset="0"/>
                        </a:rPr>
                        <m:t>+</m:t>
                      </m:r>
                      <m:r>
                        <a:rPr lang="en-US" sz="5000" b="0" i="1" smtClean="0">
                          <a:solidFill>
                            <a:srgbClr val="000000"/>
                          </a:solidFill>
                          <a:latin typeface="Cambria Math" panose="02040503050406030204" pitchFamily="18" charset="0"/>
                        </a:rPr>
                        <m:t>𝑐</m:t>
                      </m:r>
                      <m:r>
                        <a:rPr lang="en-US" sz="5000" b="0" i="1" smtClean="0">
                          <a:solidFill>
                            <a:srgbClr val="000000"/>
                          </a:solidFill>
                          <a:latin typeface="Cambria Math" panose="02040503050406030204" pitchFamily="18" charset="0"/>
                        </a:rPr>
                        <m:t>=0</m:t>
                      </m:r>
                    </m:oMath>
                  </m:oMathPara>
                </a14:m>
                <a:endParaRPr lang="en-US" sz="5000" dirty="0">
                  <a:solidFill>
                    <a:srgbClr val="000000"/>
                  </a:solidFill>
                  <a:latin typeface="More Sugar"/>
                </a:endParaRPr>
              </a:p>
            </p:txBody>
          </p:sp>
        </mc:Choice>
        <mc:Fallback xmlns="">
          <p:sp>
            <p:nvSpPr>
              <p:cNvPr id="13" name="TextBox 13"/>
              <p:cNvSpPr txBox="1">
                <a:spLocks noRot="1" noChangeAspect="1" noMove="1" noResize="1" noEditPoints="1" noAdjustHandles="1" noChangeArrowheads="1" noChangeShapeType="1" noTextEdit="1"/>
              </p:cNvSpPr>
              <p:nvPr/>
            </p:nvSpPr>
            <p:spPr>
              <a:xfrm>
                <a:off x="3093713" y="3847781"/>
                <a:ext cx="5693930" cy="89768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848001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45508" y="1756950"/>
            <a:ext cx="7098373" cy="4782528"/>
          </a:xfrm>
          <a:prstGeom prst="rect">
            <a:avLst/>
          </a:prstGeom>
        </p:spPr>
        <p:txBody>
          <a:bodyPr lIns="0" tIns="0" rIns="0" bIns="0" rtlCol="0" anchor="t">
            <a:spAutoFit/>
          </a:bodyPr>
          <a:lstStyle/>
          <a:p>
            <a:pPr algn="ctr" defTabSz="609630">
              <a:lnSpc>
                <a:spcPct val="150000"/>
              </a:lnSpc>
            </a:pPr>
            <a:r>
              <a:rPr lang="en-US" sz="2800" b="1" dirty="0">
                <a:solidFill>
                  <a:srgbClr val="000000"/>
                </a:solidFill>
                <a:latin typeface="Century" panose="02040604050505020304" pitchFamily="18" charset="0"/>
                <a:cs typeface="Arial" panose="020B0604020202020204" pitchFamily="34" charset="0"/>
              </a:rPr>
              <a:t>STEP 1.</a:t>
            </a:r>
          </a:p>
          <a:p>
            <a:pPr algn="ctr" defTabSz="609630">
              <a:lnSpc>
                <a:spcPct val="150000"/>
              </a:lnSpc>
            </a:pPr>
            <a:r>
              <a:rPr lang="en-US" sz="2800" dirty="0">
                <a:solidFill>
                  <a:srgbClr val="000000"/>
                </a:solidFill>
                <a:latin typeface="Century" panose="02040604050505020304" pitchFamily="18" charset="0"/>
                <a:cs typeface="Arial" panose="020B0604020202020204" pitchFamily="34" charset="0"/>
              </a:rPr>
              <a:t>Place the constant term on the right side of the equation. All the terms with unknowns are on the left side. </a:t>
            </a: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800" dirty="0">
              <a:solidFill>
                <a:srgbClr val="000000"/>
              </a:solidFill>
              <a:latin typeface="Century" panose="020406040505050203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36889182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744203" y="2761659"/>
                <a:ext cx="7098373" cy="3305200"/>
              </a:xfrm>
              <a:prstGeom prst="rect">
                <a:avLst/>
              </a:prstGeom>
            </p:spPr>
            <p:txBody>
              <a:bodyPr lIns="0" tIns="0" rIns="0" bIns="0" rtlCol="0" anchor="t">
                <a:spAutoFit/>
              </a:bodyPr>
              <a:lstStyle/>
              <a:p>
                <a:pPr algn="ctr" defTabSz="609630">
                  <a:lnSpc>
                    <a:spcPct val="150000"/>
                  </a:lnSpc>
                </a:pPr>
                <a14:m>
                  <m:oMathPara xmlns:m="http://schemas.openxmlformats.org/officeDocument/2006/math">
                    <m:oMathParaPr>
                      <m:jc m:val="centerGroup"/>
                    </m:oMathParaPr>
                    <m:oMath xmlns:m="http://schemas.openxmlformats.org/officeDocument/2006/math">
                      <m:r>
                        <a:rPr lang="en-US" sz="4800" b="0" i="1" smtClean="0">
                          <a:solidFill>
                            <a:srgbClr val="000000"/>
                          </a:solidFill>
                          <a:latin typeface="Cambria Math" panose="02040503050406030204" pitchFamily="18" charset="0"/>
                          <a:cs typeface="Arial" panose="020B0604020202020204" pitchFamily="34" charset="0"/>
                        </a:rPr>
                        <m:t>𝑎</m:t>
                      </m:r>
                      <m:sSup>
                        <m:sSupPr>
                          <m:ctrlPr>
                            <a:rPr lang="en-US" sz="4800" b="0" i="1" smtClean="0">
                              <a:solidFill>
                                <a:srgbClr val="000000"/>
                              </a:solidFill>
                              <a:latin typeface="Cambria Math" panose="02040503050406030204" pitchFamily="18" charset="0"/>
                              <a:cs typeface="Arial" panose="020B0604020202020204" pitchFamily="34" charset="0"/>
                            </a:rPr>
                          </m:ctrlPr>
                        </m:sSupPr>
                        <m:e>
                          <m:r>
                            <a:rPr lang="en-US" sz="4800" b="0" i="1" smtClean="0">
                              <a:solidFill>
                                <a:srgbClr val="000000"/>
                              </a:solidFill>
                              <a:latin typeface="Cambria Math" panose="02040503050406030204" pitchFamily="18" charset="0"/>
                              <a:cs typeface="Arial" panose="020B0604020202020204" pitchFamily="34" charset="0"/>
                            </a:rPr>
                            <m:t>𝑥</m:t>
                          </m:r>
                        </m:e>
                        <m:sup>
                          <m:r>
                            <a:rPr lang="en-US" sz="4800" b="0" i="1" smtClean="0">
                              <a:solidFill>
                                <a:srgbClr val="000000"/>
                              </a:solidFill>
                              <a:latin typeface="Cambria Math" panose="02040503050406030204" pitchFamily="18" charset="0"/>
                              <a:cs typeface="Arial" panose="020B0604020202020204" pitchFamily="34" charset="0"/>
                            </a:rPr>
                            <m:t>2</m:t>
                          </m:r>
                        </m:sup>
                      </m:sSup>
                      <m:r>
                        <a:rPr lang="en-US" sz="4800" b="0" i="1" smtClean="0">
                          <a:solidFill>
                            <a:srgbClr val="000000"/>
                          </a:solidFill>
                          <a:latin typeface="Cambria Math" panose="02040503050406030204" pitchFamily="18" charset="0"/>
                          <a:cs typeface="Arial" panose="020B0604020202020204" pitchFamily="34" charset="0"/>
                        </a:rPr>
                        <m:t>+</m:t>
                      </m:r>
                      <m:r>
                        <a:rPr lang="en-US" sz="4800" b="0" i="1" smtClean="0">
                          <a:solidFill>
                            <a:srgbClr val="000000"/>
                          </a:solidFill>
                          <a:latin typeface="Cambria Math" panose="02040503050406030204" pitchFamily="18" charset="0"/>
                          <a:cs typeface="Arial" panose="020B0604020202020204" pitchFamily="34" charset="0"/>
                        </a:rPr>
                        <m:t>𝑏𝑥</m:t>
                      </m:r>
                      <m:r>
                        <a:rPr lang="en-US" sz="4800" b="0" i="1" smtClean="0">
                          <a:solidFill>
                            <a:srgbClr val="000000"/>
                          </a:solidFill>
                          <a:latin typeface="Cambria Math" panose="02040503050406030204" pitchFamily="18" charset="0"/>
                          <a:cs typeface="Arial" panose="020B0604020202020204" pitchFamily="34" charset="0"/>
                        </a:rPr>
                        <m:t>=−</m:t>
                      </m:r>
                      <m:r>
                        <a:rPr lang="en-US" sz="4800" b="0" i="1" smtClean="0">
                          <a:solidFill>
                            <a:srgbClr val="000000"/>
                          </a:solidFill>
                          <a:latin typeface="Cambria Math" panose="02040503050406030204" pitchFamily="18" charset="0"/>
                          <a:cs typeface="Arial" panose="020B0604020202020204" pitchFamily="34" charset="0"/>
                        </a:rPr>
                        <m:t>𝑐</m:t>
                      </m:r>
                    </m:oMath>
                  </m:oMathPara>
                </a14:m>
                <a:endParaRPr lang="en-US" sz="48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8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744203" y="2761659"/>
                <a:ext cx="7098373" cy="3305200"/>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015792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584892" y="2282350"/>
                <a:ext cx="7098373" cy="4136197"/>
              </a:xfrm>
              <a:prstGeom prst="rect">
                <a:avLst/>
              </a:prstGeom>
            </p:spPr>
            <p:txBody>
              <a:bodyPr lIns="0" tIns="0" rIns="0" bIns="0" rtlCol="0" anchor="t">
                <a:spAutoFit/>
              </a:bodyPr>
              <a:lstStyle/>
              <a:p>
                <a:pPr algn="ctr" defTabSz="609630">
                  <a:lnSpc>
                    <a:spcPct val="150000"/>
                  </a:lnSpc>
                </a:pPr>
                <a:r>
                  <a:rPr lang="en-US" sz="2800" b="1" dirty="0">
                    <a:solidFill>
                      <a:srgbClr val="000000"/>
                    </a:solidFill>
                    <a:latin typeface="Century" panose="02040604050505020304" pitchFamily="18" charset="0"/>
                    <a:cs typeface="Arial" panose="020B0604020202020204" pitchFamily="34" charset="0"/>
                  </a:rPr>
                  <a:t>STEP 2.</a:t>
                </a:r>
              </a:p>
              <a:p>
                <a:pPr algn="ctr" defTabSz="609630">
                  <a:lnSpc>
                    <a:spcPct val="150000"/>
                  </a:lnSpc>
                </a:pPr>
                <a:r>
                  <a:rPr lang="en-US" sz="2800" dirty="0">
                    <a:solidFill>
                      <a:srgbClr val="000000"/>
                    </a:solidFill>
                    <a:latin typeface="Century" panose="02040604050505020304" pitchFamily="18" charset="0"/>
                    <a:cs typeface="Arial" panose="020B0604020202020204" pitchFamily="34" charset="0"/>
                  </a:rPr>
                  <a:t>Divide each term of the equation with the numerical coefficient of </a:t>
                </a:r>
                <a14:m>
                  <m:oMath xmlns:m="http://schemas.openxmlformats.org/officeDocument/2006/math">
                    <m:sSup>
                      <m:sSupPr>
                        <m:ctrlPr>
                          <a:rPr lang="en-US" sz="2800" b="0" i="1" smtClean="0">
                            <a:solidFill>
                              <a:srgbClr val="000000"/>
                            </a:solidFill>
                            <a:latin typeface="Cambria Math" panose="02040503050406030204" pitchFamily="18" charset="0"/>
                            <a:cs typeface="Arial" panose="020B0604020202020204" pitchFamily="34" charset="0"/>
                          </a:rPr>
                        </m:ctrlPr>
                      </m:sSupPr>
                      <m:e>
                        <m:r>
                          <a:rPr lang="en-US" sz="2800" b="0" i="1" smtClean="0">
                            <a:solidFill>
                              <a:srgbClr val="000000"/>
                            </a:solidFill>
                            <a:latin typeface="Cambria Math" panose="02040503050406030204" pitchFamily="18" charset="0"/>
                            <a:cs typeface="Arial" panose="020B0604020202020204" pitchFamily="34" charset="0"/>
                          </a:rPr>
                          <m:t>𝑥</m:t>
                        </m:r>
                      </m:e>
                      <m:sup>
                        <m:r>
                          <a:rPr lang="en-US" sz="2800" b="0" i="1" smtClean="0">
                            <a:solidFill>
                              <a:srgbClr val="000000"/>
                            </a:solidFill>
                            <a:latin typeface="Cambria Math" panose="02040503050406030204" pitchFamily="18" charset="0"/>
                            <a:cs typeface="Arial" panose="020B0604020202020204" pitchFamily="34" charset="0"/>
                          </a:rPr>
                          <m:t>2</m:t>
                        </m:r>
                      </m:sup>
                    </m:sSup>
                  </m:oMath>
                </a14:m>
                <a:r>
                  <a:rPr lang="en-US" sz="2800" dirty="0">
                    <a:solidFill>
                      <a:srgbClr val="000000"/>
                    </a:solidFill>
                    <a:latin typeface="Century" panose="02040604050505020304" pitchFamily="18" charset="0"/>
                    <a:cs typeface="Arial" panose="020B0604020202020204" pitchFamily="34" charset="0"/>
                  </a:rPr>
                  <a:t> if necessary.. </a:t>
                </a: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8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584892" y="2282350"/>
                <a:ext cx="7098373" cy="4136197"/>
              </a:xfrm>
              <a:prstGeom prst="rect">
                <a:avLst/>
              </a:prstGeom>
              <a:blipFill>
                <a:blip r:embed="rId11"/>
                <a:stretch>
                  <a:fillRect l="-1289" r="-2749"/>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35299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74239"/>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406413" y="2219329"/>
                <a:ext cx="7098373" cy="4374339"/>
              </a:xfrm>
              <a:prstGeom prst="rect">
                <a:avLst/>
              </a:prstGeom>
            </p:spPr>
            <p:txBody>
              <a:bodyPr lIns="0" tIns="0" rIns="0" bIns="0" rtlCol="0" anchor="t">
                <a:spAutoFit/>
              </a:bodyPr>
              <a:lstStyle/>
              <a:p>
                <a:pPr algn="ctr" defTabSz="609630">
                  <a:lnSpc>
                    <a:spcPct val="150000"/>
                  </a:lnSpc>
                </a:pPr>
                <a14:m>
                  <m:oMathPara xmlns:m="http://schemas.openxmlformats.org/officeDocument/2006/math">
                    <m:oMathParaPr>
                      <m:jc m:val="centerGroup"/>
                    </m:oMathParaPr>
                    <m:oMath xmlns:m="http://schemas.openxmlformats.org/officeDocument/2006/math">
                      <m:sSup>
                        <m:sSupPr>
                          <m:ctrlPr>
                            <a:rPr lang="en-US" sz="4800" b="0" i="1" smtClean="0">
                              <a:solidFill>
                                <a:srgbClr val="000000"/>
                              </a:solidFill>
                              <a:latin typeface="Cambria Math" panose="02040503050406030204" pitchFamily="18" charset="0"/>
                              <a:cs typeface="Arial" panose="020B0604020202020204" pitchFamily="34" charset="0"/>
                            </a:rPr>
                          </m:ctrlPr>
                        </m:sSupPr>
                        <m:e>
                          <m:r>
                            <a:rPr lang="en-US" sz="4800" b="0" i="1" smtClean="0">
                              <a:solidFill>
                                <a:srgbClr val="000000"/>
                              </a:solidFill>
                              <a:latin typeface="Cambria Math" panose="02040503050406030204" pitchFamily="18" charset="0"/>
                              <a:cs typeface="Arial" panose="020B0604020202020204" pitchFamily="34" charset="0"/>
                            </a:rPr>
                            <m:t>𝑥</m:t>
                          </m:r>
                        </m:e>
                        <m:sup>
                          <m:r>
                            <a:rPr lang="en-US" sz="4800" b="0" i="1" smtClean="0">
                              <a:solidFill>
                                <a:srgbClr val="000000"/>
                              </a:solidFill>
                              <a:latin typeface="Cambria Math" panose="02040503050406030204" pitchFamily="18" charset="0"/>
                              <a:cs typeface="Arial" panose="020B0604020202020204" pitchFamily="34" charset="0"/>
                            </a:rPr>
                            <m:t>2</m:t>
                          </m:r>
                        </m:sup>
                      </m:sSup>
                      <m:r>
                        <a:rPr lang="en-US" sz="4800" b="0" i="1" smtClean="0">
                          <a:solidFill>
                            <a:srgbClr val="000000"/>
                          </a:solidFill>
                          <a:latin typeface="Cambria Math" panose="02040503050406030204" pitchFamily="18" charset="0"/>
                          <a:cs typeface="Arial" panose="020B0604020202020204" pitchFamily="34" charset="0"/>
                        </a:rPr>
                        <m:t>+</m:t>
                      </m:r>
                      <m:f>
                        <m:fPr>
                          <m:ctrlPr>
                            <a:rPr lang="en-US" sz="4800" b="0" i="1" smtClean="0">
                              <a:solidFill>
                                <a:srgbClr val="000000"/>
                              </a:solidFill>
                              <a:latin typeface="Cambria Math" panose="02040503050406030204" pitchFamily="18" charset="0"/>
                              <a:cs typeface="Arial" panose="020B0604020202020204" pitchFamily="34" charset="0"/>
                            </a:rPr>
                          </m:ctrlPr>
                        </m:fPr>
                        <m:num>
                          <m:r>
                            <a:rPr lang="en-US" sz="4800" b="0" i="1" smtClean="0">
                              <a:solidFill>
                                <a:srgbClr val="000000"/>
                              </a:solidFill>
                              <a:latin typeface="Cambria Math" panose="02040503050406030204" pitchFamily="18" charset="0"/>
                              <a:cs typeface="Arial" panose="020B0604020202020204" pitchFamily="34" charset="0"/>
                            </a:rPr>
                            <m:t>𝑏𝑥</m:t>
                          </m:r>
                        </m:num>
                        <m:den>
                          <m:r>
                            <a:rPr lang="en-US" sz="4800" b="0" i="1" smtClean="0">
                              <a:solidFill>
                                <a:srgbClr val="000000"/>
                              </a:solidFill>
                              <a:latin typeface="Cambria Math" panose="02040503050406030204" pitchFamily="18" charset="0"/>
                              <a:cs typeface="Arial" panose="020B0604020202020204" pitchFamily="34" charset="0"/>
                            </a:rPr>
                            <m:t>𝑎</m:t>
                          </m:r>
                        </m:den>
                      </m:f>
                      <m:r>
                        <a:rPr lang="en-US" sz="4800" b="0" i="0" smtClean="0">
                          <a:solidFill>
                            <a:srgbClr val="000000"/>
                          </a:solidFill>
                          <a:latin typeface="Cambria Math" panose="02040503050406030204" pitchFamily="18" charset="0"/>
                          <a:cs typeface="Arial" panose="020B0604020202020204" pitchFamily="34" charset="0"/>
                        </a:rPr>
                        <m:t>=</m:t>
                      </m:r>
                      <m:f>
                        <m:fPr>
                          <m:ctrlPr>
                            <a:rPr lang="en-US" sz="4800" b="0" i="1" smtClean="0">
                              <a:solidFill>
                                <a:srgbClr val="000000"/>
                              </a:solidFill>
                              <a:latin typeface="Cambria Math" panose="02040503050406030204" pitchFamily="18" charset="0"/>
                              <a:cs typeface="Arial" panose="020B0604020202020204" pitchFamily="34" charset="0"/>
                            </a:rPr>
                          </m:ctrlPr>
                        </m:fPr>
                        <m:num>
                          <m:r>
                            <a:rPr lang="en-US" sz="4800" b="0" i="1" smtClean="0">
                              <a:solidFill>
                                <a:srgbClr val="000000"/>
                              </a:solidFill>
                              <a:latin typeface="Cambria Math" panose="02040503050406030204" pitchFamily="18" charset="0"/>
                              <a:cs typeface="Arial" panose="020B0604020202020204" pitchFamily="34" charset="0"/>
                            </a:rPr>
                            <m:t>−</m:t>
                          </m:r>
                          <m:r>
                            <a:rPr lang="en-US" sz="4800" b="0" i="1" smtClean="0">
                              <a:solidFill>
                                <a:srgbClr val="000000"/>
                              </a:solidFill>
                              <a:latin typeface="Cambria Math" panose="02040503050406030204" pitchFamily="18" charset="0"/>
                              <a:cs typeface="Arial" panose="020B0604020202020204" pitchFamily="34" charset="0"/>
                            </a:rPr>
                            <m:t>𝑐</m:t>
                          </m:r>
                        </m:num>
                        <m:den>
                          <m:r>
                            <a:rPr lang="en-US" sz="4800" b="0" i="1" smtClean="0">
                              <a:solidFill>
                                <a:srgbClr val="000000"/>
                              </a:solidFill>
                              <a:latin typeface="Cambria Math" panose="02040503050406030204" pitchFamily="18" charset="0"/>
                              <a:cs typeface="Arial" panose="020B0604020202020204" pitchFamily="34" charset="0"/>
                            </a:rPr>
                            <m:t>𝑎</m:t>
                          </m:r>
                        </m:den>
                      </m:f>
                    </m:oMath>
                  </m:oMathPara>
                </a14:m>
                <a:endParaRPr lang="en-US" sz="48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8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406413" y="2219329"/>
                <a:ext cx="7098373" cy="4374339"/>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4247352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584892" y="2031627"/>
            <a:ext cx="7098373" cy="5433090"/>
          </a:xfrm>
          <a:prstGeom prst="rect">
            <a:avLst/>
          </a:prstGeom>
        </p:spPr>
        <p:txBody>
          <a:bodyPr lIns="0" tIns="0" rIns="0" bIns="0" rtlCol="0" anchor="t">
            <a:spAutoFit/>
          </a:bodyPr>
          <a:lstStyle/>
          <a:p>
            <a:pPr algn="ctr" defTabSz="609630">
              <a:lnSpc>
                <a:spcPct val="150000"/>
              </a:lnSpc>
            </a:pPr>
            <a:r>
              <a:rPr lang="en-US" sz="2800" b="1" dirty="0">
                <a:solidFill>
                  <a:srgbClr val="000000"/>
                </a:solidFill>
                <a:latin typeface="Cambria" panose="02040503050406030204" pitchFamily="18" charset="0"/>
                <a:ea typeface="Cambria" panose="02040503050406030204" pitchFamily="18" charset="0"/>
                <a:cs typeface="Arial" panose="020B0604020202020204" pitchFamily="34" charset="0"/>
              </a:rPr>
              <a:t>STEP 3.</a:t>
            </a:r>
          </a:p>
          <a:p>
            <a:pPr algn="just"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Get the numerical coefficient of x, divide it by 2 and square </a:t>
            </a:r>
          </a:p>
          <a:p>
            <a:pPr algn="just"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it. Add the result to both sides of the equation.</a:t>
            </a:r>
          </a:p>
          <a:p>
            <a:pPr algn="ctr"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 </a:t>
            </a: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ts val="8587"/>
              </a:lnSpc>
            </a:pPr>
            <a:endParaRPr lang="en-US" sz="2800" dirty="0">
              <a:solidFill>
                <a:srgbClr val="000000"/>
              </a:solidFill>
              <a:latin typeface="Cambria" panose="020405030504060302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3570945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74239"/>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406413" y="2219329"/>
                <a:ext cx="7098373" cy="4285212"/>
              </a:xfrm>
              <a:prstGeom prst="rect">
                <a:avLst/>
              </a:prstGeom>
            </p:spPr>
            <p:txBody>
              <a:bodyPr lIns="0" tIns="0" rIns="0" bIns="0" rtlCol="0" anchor="t">
                <a:spAutoFit/>
              </a:bodyPr>
              <a:lstStyle/>
              <a:p>
                <a:pPr algn="ctr" defTabSz="609630">
                  <a:lnSpc>
                    <a:spcPct val="150000"/>
                  </a:lnSpc>
                </a:pPr>
                <a14:m>
                  <m:oMath xmlns:m="http://schemas.openxmlformats.org/officeDocument/2006/math">
                    <m:sSup>
                      <m:sSupPr>
                        <m:ctrlPr>
                          <a:rPr lang="en-US" sz="4800" i="1" smtClean="0">
                            <a:solidFill>
                              <a:srgbClr val="000000"/>
                            </a:solidFill>
                            <a:latin typeface="Cambria Math" panose="02040503050406030204" pitchFamily="18" charset="0"/>
                            <a:cs typeface="Arial" panose="020B0604020202020204" pitchFamily="34" charset="0"/>
                          </a:rPr>
                        </m:ctrlPr>
                      </m:sSupPr>
                      <m:e>
                        <m:r>
                          <a:rPr lang="en-US" sz="4800" b="0" i="1" smtClean="0">
                            <a:solidFill>
                              <a:srgbClr val="000000"/>
                            </a:solidFill>
                            <a:latin typeface="Cambria Math" panose="02040503050406030204" pitchFamily="18" charset="0"/>
                            <a:cs typeface="Arial" panose="020B0604020202020204" pitchFamily="34" charset="0"/>
                          </a:rPr>
                          <m:t>(</m:t>
                        </m:r>
                        <m:f>
                          <m:fPr>
                            <m:ctrlPr>
                              <a:rPr lang="en-US" sz="4800" i="1" smtClean="0">
                                <a:solidFill>
                                  <a:srgbClr val="000000"/>
                                </a:solidFill>
                                <a:latin typeface="Cambria Math" panose="02040503050406030204" pitchFamily="18" charset="0"/>
                                <a:cs typeface="Arial" panose="020B0604020202020204" pitchFamily="34" charset="0"/>
                              </a:rPr>
                            </m:ctrlPr>
                          </m:fPr>
                          <m:num>
                            <m:f>
                              <m:fPr>
                                <m:ctrlPr>
                                  <a:rPr lang="en-US" sz="4800" i="1" smtClean="0">
                                    <a:solidFill>
                                      <a:srgbClr val="000000"/>
                                    </a:solidFill>
                                    <a:latin typeface="Cambria Math" panose="02040503050406030204" pitchFamily="18" charset="0"/>
                                    <a:cs typeface="Arial" panose="020B0604020202020204" pitchFamily="34" charset="0"/>
                                  </a:rPr>
                                </m:ctrlPr>
                              </m:fPr>
                              <m:num>
                                <m:r>
                                  <a:rPr lang="en-US" sz="4800" b="0" i="1" smtClean="0">
                                    <a:solidFill>
                                      <a:srgbClr val="000000"/>
                                    </a:solidFill>
                                    <a:latin typeface="Cambria Math" panose="02040503050406030204" pitchFamily="18" charset="0"/>
                                    <a:cs typeface="Arial" panose="020B0604020202020204" pitchFamily="34" charset="0"/>
                                  </a:rPr>
                                  <m:t>𝑏</m:t>
                                </m:r>
                              </m:num>
                              <m:den>
                                <m:r>
                                  <a:rPr lang="en-US" sz="4800" b="0" i="1" smtClean="0">
                                    <a:solidFill>
                                      <a:srgbClr val="000000"/>
                                    </a:solidFill>
                                    <a:latin typeface="Cambria Math" panose="02040503050406030204" pitchFamily="18" charset="0"/>
                                    <a:cs typeface="Arial" panose="020B0604020202020204" pitchFamily="34" charset="0"/>
                                  </a:rPr>
                                  <m:t>𝑎</m:t>
                                </m:r>
                              </m:den>
                            </m:f>
                          </m:num>
                          <m:den>
                            <m:r>
                              <a:rPr lang="en-US" sz="4800" b="0" i="1" smtClean="0">
                                <a:solidFill>
                                  <a:srgbClr val="000000"/>
                                </a:solidFill>
                                <a:latin typeface="Cambria Math" panose="02040503050406030204" pitchFamily="18" charset="0"/>
                                <a:cs typeface="Arial" panose="020B0604020202020204" pitchFamily="34" charset="0"/>
                              </a:rPr>
                              <m:t>2</m:t>
                            </m:r>
                          </m:den>
                        </m:f>
                        <m:r>
                          <a:rPr lang="en-US" sz="4800" b="0" i="1" smtClean="0">
                            <a:solidFill>
                              <a:srgbClr val="000000"/>
                            </a:solidFill>
                            <a:latin typeface="Cambria Math" panose="02040503050406030204" pitchFamily="18" charset="0"/>
                            <a:cs typeface="Arial" panose="020B0604020202020204" pitchFamily="34" charset="0"/>
                          </a:rPr>
                          <m:t>)</m:t>
                        </m:r>
                      </m:e>
                      <m:sup>
                        <m:r>
                          <a:rPr lang="en-US" sz="4800" b="0" i="1" smtClean="0">
                            <a:solidFill>
                              <a:srgbClr val="000000"/>
                            </a:solidFill>
                            <a:latin typeface="Cambria Math" panose="02040503050406030204" pitchFamily="18" charset="0"/>
                            <a:cs typeface="Arial" panose="020B0604020202020204" pitchFamily="34" charset="0"/>
                          </a:rPr>
                          <m:t>2</m:t>
                        </m:r>
                      </m:sup>
                    </m:sSup>
                    <m:r>
                      <a:rPr lang="en-US" sz="4800" b="0" i="0" smtClean="0">
                        <a:solidFill>
                          <a:srgbClr val="000000"/>
                        </a:solidFill>
                        <a:latin typeface="Cambria Math" panose="02040503050406030204" pitchFamily="18" charset="0"/>
                        <a:cs typeface="Arial" panose="020B0604020202020204" pitchFamily="34" charset="0"/>
                      </a:rPr>
                      <m:t>=</m:t>
                    </m:r>
                    <m:sSup>
                      <m:sSupPr>
                        <m:ctrlPr>
                          <a:rPr lang="en-US" sz="4800" b="0" i="1" smtClean="0">
                            <a:solidFill>
                              <a:srgbClr val="000000"/>
                            </a:solidFill>
                            <a:latin typeface="Cambria Math" panose="02040503050406030204" pitchFamily="18" charset="0"/>
                            <a:cs typeface="Arial" panose="020B0604020202020204" pitchFamily="34" charset="0"/>
                          </a:rPr>
                        </m:ctrlPr>
                      </m:sSupPr>
                      <m:e>
                        <m:r>
                          <a:rPr lang="en-US" sz="4800" b="0" i="1" smtClean="0">
                            <a:solidFill>
                              <a:srgbClr val="000000"/>
                            </a:solidFill>
                            <a:latin typeface="Cambria Math" panose="02040503050406030204" pitchFamily="18" charset="0"/>
                            <a:cs typeface="Arial" panose="020B0604020202020204" pitchFamily="34" charset="0"/>
                          </a:rPr>
                          <m:t>(</m:t>
                        </m:r>
                        <m:f>
                          <m:fPr>
                            <m:ctrlPr>
                              <a:rPr lang="en-US" sz="4800" b="0" i="1" smtClean="0">
                                <a:solidFill>
                                  <a:srgbClr val="000000"/>
                                </a:solidFill>
                                <a:latin typeface="Cambria Math" panose="02040503050406030204" pitchFamily="18" charset="0"/>
                                <a:cs typeface="Arial" panose="020B0604020202020204" pitchFamily="34" charset="0"/>
                              </a:rPr>
                            </m:ctrlPr>
                          </m:fPr>
                          <m:num>
                            <m:r>
                              <a:rPr lang="en-US" sz="4800" b="0" i="1" smtClean="0">
                                <a:solidFill>
                                  <a:srgbClr val="000000"/>
                                </a:solidFill>
                                <a:latin typeface="Cambria Math" panose="02040503050406030204" pitchFamily="18" charset="0"/>
                                <a:cs typeface="Arial" panose="020B0604020202020204" pitchFamily="34" charset="0"/>
                              </a:rPr>
                              <m:t>𝑏</m:t>
                            </m:r>
                          </m:num>
                          <m:den>
                            <m:r>
                              <a:rPr lang="en-US" sz="4800" b="0" i="1" smtClean="0">
                                <a:solidFill>
                                  <a:srgbClr val="000000"/>
                                </a:solidFill>
                                <a:latin typeface="Cambria Math" panose="02040503050406030204" pitchFamily="18" charset="0"/>
                                <a:cs typeface="Arial" panose="020B0604020202020204" pitchFamily="34" charset="0"/>
                              </a:rPr>
                              <m:t>2</m:t>
                            </m:r>
                            <m:r>
                              <a:rPr lang="en-US" sz="4800" b="0" i="1" smtClean="0">
                                <a:solidFill>
                                  <a:srgbClr val="000000"/>
                                </a:solidFill>
                                <a:latin typeface="Cambria Math" panose="02040503050406030204" pitchFamily="18" charset="0"/>
                                <a:cs typeface="Arial" panose="020B0604020202020204" pitchFamily="34" charset="0"/>
                              </a:rPr>
                              <m:t>𝑎</m:t>
                            </m:r>
                          </m:den>
                        </m:f>
                        <m:r>
                          <a:rPr lang="en-US" sz="4800" b="0" i="1" smtClean="0">
                            <a:solidFill>
                              <a:srgbClr val="000000"/>
                            </a:solidFill>
                            <a:latin typeface="Cambria Math" panose="02040503050406030204" pitchFamily="18" charset="0"/>
                            <a:cs typeface="Arial" panose="020B0604020202020204" pitchFamily="34" charset="0"/>
                          </a:rPr>
                          <m:t>)</m:t>
                        </m:r>
                      </m:e>
                      <m:sup>
                        <m:r>
                          <a:rPr lang="en-US" sz="4800" b="0" i="1" smtClean="0">
                            <a:solidFill>
                              <a:srgbClr val="000000"/>
                            </a:solidFill>
                            <a:latin typeface="Cambria Math" panose="02040503050406030204" pitchFamily="18" charset="0"/>
                            <a:cs typeface="Arial" panose="020B0604020202020204" pitchFamily="34" charset="0"/>
                          </a:rPr>
                          <m:t>2</m:t>
                        </m:r>
                      </m:sup>
                    </m:sSup>
                  </m:oMath>
                </a14:m>
                <a:r>
                  <a:rPr lang="en-US" sz="4800" dirty="0">
                    <a:solidFill>
                      <a:srgbClr val="000000"/>
                    </a:solidFill>
                    <a:latin typeface="Century" panose="02040604050505020304" pitchFamily="18" charset="0"/>
                    <a:cs typeface="Arial" panose="020B0604020202020204" pitchFamily="34" charset="0"/>
                  </a:rPr>
                  <a:t>=</a:t>
                </a:r>
                <a14:m>
                  <m:oMath xmlns:m="http://schemas.openxmlformats.org/officeDocument/2006/math">
                    <m:f>
                      <m:fPr>
                        <m:ctrlPr>
                          <a:rPr lang="en-US" sz="4800" i="1" dirty="0" smtClean="0">
                            <a:solidFill>
                              <a:srgbClr val="000000"/>
                            </a:solidFill>
                            <a:latin typeface="Cambria Math" panose="02040503050406030204" pitchFamily="18" charset="0"/>
                            <a:cs typeface="Arial" panose="020B0604020202020204" pitchFamily="34" charset="0"/>
                          </a:rPr>
                        </m:ctrlPr>
                      </m:fPr>
                      <m:num>
                        <m:sSup>
                          <m:sSupPr>
                            <m:ctrlPr>
                              <a:rPr lang="en-US" sz="4800" b="0" i="1" dirty="0" smtClean="0">
                                <a:solidFill>
                                  <a:srgbClr val="000000"/>
                                </a:solidFill>
                                <a:latin typeface="Cambria Math" panose="02040503050406030204" pitchFamily="18" charset="0"/>
                                <a:cs typeface="Arial" panose="020B0604020202020204" pitchFamily="34" charset="0"/>
                              </a:rPr>
                            </m:ctrlPr>
                          </m:sSupPr>
                          <m:e>
                            <m:r>
                              <a:rPr lang="en-US" sz="4800" b="0" i="1" dirty="0" smtClean="0">
                                <a:solidFill>
                                  <a:srgbClr val="000000"/>
                                </a:solidFill>
                                <a:latin typeface="Cambria Math" panose="02040503050406030204" pitchFamily="18" charset="0"/>
                                <a:cs typeface="Arial" panose="020B0604020202020204" pitchFamily="34" charset="0"/>
                              </a:rPr>
                              <m:t>𝑏</m:t>
                            </m:r>
                          </m:e>
                          <m:sup>
                            <m:r>
                              <a:rPr lang="en-US" sz="4800" b="0" i="1" dirty="0" smtClean="0">
                                <a:solidFill>
                                  <a:srgbClr val="000000"/>
                                </a:solidFill>
                                <a:latin typeface="Cambria Math" panose="02040503050406030204" pitchFamily="18" charset="0"/>
                                <a:cs typeface="Arial" panose="020B0604020202020204" pitchFamily="34" charset="0"/>
                              </a:rPr>
                              <m:t>2</m:t>
                            </m:r>
                          </m:sup>
                        </m:sSup>
                      </m:num>
                      <m:den>
                        <m:r>
                          <a:rPr lang="en-US" sz="4800" b="0" i="1" dirty="0" smtClean="0">
                            <a:solidFill>
                              <a:srgbClr val="000000"/>
                            </a:solidFill>
                            <a:latin typeface="Cambria Math" panose="02040503050406030204" pitchFamily="18" charset="0"/>
                            <a:cs typeface="Arial" panose="020B0604020202020204" pitchFamily="34" charset="0"/>
                          </a:rPr>
                          <m:t>4</m:t>
                        </m:r>
                        <m:sSup>
                          <m:sSupPr>
                            <m:ctrlPr>
                              <a:rPr lang="en-US" sz="4800" b="0" i="1" dirty="0" smtClean="0">
                                <a:solidFill>
                                  <a:srgbClr val="000000"/>
                                </a:solidFill>
                                <a:latin typeface="Cambria Math" panose="02040503050406030204" pitchFamily="18" charset="0"/>
                                <a:cs typeface="Arial" panose="020B0604020202020204" pitchFamily="34" charset="0"/>
                              </a:rPr>
                            </m:ctrlPr>
                          </m:sSupPr>
                          <m:e>
                            <m:r>
                              <a:rPr lang="en-US" sz="4800" b="0" i="1" dirty="0" smtClean="0">
                                <a:solidFill>
                                  <a:srgbClr val="000000"/>
                                </a:solidFill>
                                <a:latin typeface="Cambria Math" panose="02040503050406030204" pitchFamily="18" charset="0"/>
                                <a:cs typeface="Arial" panose="020B0604020202020204" pitchFamily="34" charset="0"/>
                              </a:rPr>
                              <m:t>𝑎</m:t>
                            </m:r>
                          </m:e>
                          <m:sup>
                            <m:r>
                              <a:rPr lang="en-US" sz="4800" b="0" i="1" dirty="0" smtClean="0">
                                <a:solidFill>
                                  <a:srgbClr val="000000"/>
                                </a:solidFill>
                                <a:latin typeface="Cambria Math" panose="02040503050406030204" pitchFamily="18" charset="0"/>
                                <a:cs typeface="Arial" panose="020B0604020202020204" pitchFamily="34" charset="0"/>
                              </a:rPr>
                              <m:t>2</m:t>
                            </m:r>
                          </m:sup>
                        </m:sSup>
                      </m:den>
                    </m:f>
                  </m:oMath>
                </a14:m>
                <a:endParaRPr lang="en-US" sz="48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8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406413" y="2219329"/>
                <a:ext cx="7098373" cy="4285212"/>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8825821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74239"/>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406413" y="2219329"/>
                <a:ext cx="7098373" cy="4050019"/>
              </a:xfrm>
              <a:prstGeom prst="rect">
                <a:avLst/>
              </a:prstGeom>
            </p:spPr>
            <p:txBody>
              <a:bodyPr lIns="0" tIns="0" rIns="0" bIns="0" rtlCol="0" anchor="t">
                <a:spAutoFit/>
              </a:bodyPr>
              <a:lstStyle/>
              <a:p>
                <a:pPr algn="ctr" defTabSz="609630">
                  <a:lnSpc>
                    <a:spcPct val="150000"/>
                  </a:lnSpc>
                </a:pPr>
                <a14:m>
                  <m:oMathPara xmlns:m="http://schemas.openxmlformats.org/officeDocument/2006/math">
                    <m:oMathParaPr>
                      <m:jc m:val="centerGroup"/>
                    </m:oMathParaPr>
                    <m:oMath xmlns:m="http://schemas.openxmlformats.org/officeDocument/2006/math">
                      <m:sSup>
                        <m:sSupPr>
                          <m:ctrlPr>
                            <a:rPr lang="en-US" sz="4000" b="0" i="1" smtClean="0">
                              <a:solidFill>
                                <a:srgbClr val="000000"/>
                              </a:solidFill>
                              <a:latin typeface="Cambria Math" panose="02040503050406030204" pitchFamily="18" charset="0"/>
                              <a:cs typeface="Arial" panose="020B0604020202020204" pitchFamily="34" charset="0"/>
                            </a:rPr>
                          </m:ctrlPr>
                        </m:sSupPr>
                        <m:e>
                          <m:r>
                            <a:rPr lang="en-US" sz="4000" b="0" i="1" smtClean="0">
                              <a:solidFill>
                                <a:srgbClr val="000000"/>
                              </a:solidFill>
                              <a:latin typeface="Cambria Math" panose="02040503050406030204" pitchFamily="18" charset="0"/>
                              <a:cs typeface="Arial" panose="020B0604020202020204" pitchFamily="34" charset="0"/>
                            </a:rPr>
                            <m:t>𝑥</m:t>
                          </m:r>
                        </m:e>
                        <m:sup>
                          <m:r>
                            <a:rPr lang="en-US" sz="4000" b="0" i="1" smtClean="0">
                              <a:solidFill>
                                <a:srgbClr val="000000"/>
                              </a:solidFill>
                              <a:latin typeface="Cambria Math" panose="02040503050406030204" pitchFamily="18" charset="0"/>
                              <a:cs typeface="Arial" panose="020B0604020202020204" pitchFamily="34" charset="0"/>
                            </a:rPr>
                            <m:t>2</m:t>
                          </m:r>
                        </m:sup>
                      </m:sSup>
                      <m:r>
                        <a:rPr lang="en-US" sz="4000" b="0" i="1" smtClean="0">
                          <a:solidFill>
                            <a:srgbClr val="000000"/>
                          </a:solidFill>
                          <a:latin typeface="Cambria Math" panose="02040503050406030204" pitchFamily="18" charset="0"/>
                          <a:cs typeface="Arial" panose="020B0604020202020204" pitchFamily="34" charset="0"/>
                        </a:rPr>
                        <m:t>+</m:t>
                      </m:r>
                      <m:f>
                        <m:fPr>
                          <m:ctrlPr>
                            <a:rPr lang="en-US" sz="4000" b="0" i="1" smtClean="0">
                              <a:solidFill>
                                <a:srgbClr val="000000"/>
                              </a:solidFill>
                              <a:latin typeface="Cambria Math" panose="02040503050406030204" pitchFamily="18" charset="0"/>
                              <a:cs typeface="Arial" panose="020B0604020202020204" pitchFamily="34" charset="0"/>
                            </a:rPr>
                          </m:ctrlPr>
                        </m:fPr>
                        <m:num>
                          <m:r>
                            <a:rPr lang="en-US" sz="4000" b="0" i="1" smtClean="0">
                              <a:solidFill>
                                <a:srgbClr val="000000"/>
                              </a:solidFill>
                              <a:latin typeface="Cambria Math" panose="02040503050406030204" pitchFamily="18" charset="0"/>
                              <a:cs typeface="Arial" panose="020B0604020202020204" pitchFamily="34" charset="0"/>
                            </a:rPr>
                            <m:t>𝑏𝑥</m:t>
                          </m:r>
                        </m:num>
                        <m:den>
                          <m:r>
                            <a:rPr lang="en-US" sz="4000" b="0" i="1" smtClean="0">
                              <a:solidFill>
                                <a:srgbClr val="000000"/>
                              </a:solidFill>
                              <a:latin typeface="Cambria Math" panose="02040503050406030204" pitchFamily="18" charset="0"/>
                              <a:cs typeface="Arial" panose="020B0604020202020204" pitchFamily="34" charset="0"/>
                            </a:rPr>
                            <m:t>𝑎</m:t>
                          </m:r>
                        </m:den>
                      </m:f>
                      <m:r>
                        <a:rPr lang="en-US" sz="4000" b="0" i="0" smtClean="0">
                          <a:solidFill>
                            <a:srgbClr val="000000"/>
                          </a:solidFill>
                          <a:latin typeface="Cambria Math" panose="02040503050406030204" pitchFamily="18" charset="0"/>
                          <a:cs typeface="Arial" panose="020B0604020202020204" pitchFamily="34" charset="0"/>
                        </a:rPr>
                        <m:t>+</m:t>
                      </m:r>
                      <m:f>
                        <m:fPr>
                          <m:ctrlPr>
                            <a:rPr lang="en-US" sz="4000" b="0" i="1" smtClean="0">
                              <a:solidFill>
                                <a:srgbClr val="000000"/>
                              </a:solidFill>
                              <a:latin typeface="Cambria Math" panose="02040503050406030204" pitchFamily="18" charset="0"/>
                              <a:cs typeface="Arial" panose="020B0604020202020204" pitchFamily="34" charset="0"/>
                            </a:rPr>
                          </m:ctrlPr>
                        </m:fPr>
                        <m:num>
                          <m:sSup>
                            <m:sSupPr>
                              <m:ctrlPr>
                                <a:rPr lang="en-US" sz="4000" b="0" i="1" smtClean="0">
                                  <a:solidFill>
                                    <a:srgbClr val="000000"/>
                                  </a:solidFill>
                                  <a:latin typeface="Cambria Math" panose="02040503050406030204" pitchFamily="18" charset="0"/>
                                  <a:cs typeface="Arial" panose="020B0604020202020204" pitchFamily="34" charset="0"/>
                                </a:rPr>
                              </m:ctrlPr>
                            </m:sSupPr>
                            <m:e>
                              <m:r>
                                <a:rPr lang="en-US" sz="4000" b="0" i="1" smtClean="0">
                                  <a:solidFill>
                                    <a:srgbClr val="000000"/>
                                  </a:solidFill>
                                  <a:latin typeface="Cambria Math" panose="02040503050406030204" pitchFamily="18" charset="0"/>
                                  <a:cs typeface="Arial" panose="020B0604020202020204" pitchFamily="34" charset="0"/>
                                </a:rPr>
                                <m:t>𝑏</m:t>
                              </m:r>
                            </m:e>
                            <m:sup>
                              <m:r>
                                <a:rPr lang="en-US" sz="4000" b="0" i="1" smtClean="0">
                                  <a:solidFill>
                                    <a:srgbClr val="000000"/>
                                  </a:solidFill>
                                  <a:latin typeface="Cambria Math" panose="02040503050406030204" pitchFamily="18" charset="0"/>
                                  <a:cs typeface="Arial" panose="020B0604020202020204" pitchFamily="34" charset="0"/>
                                </a:rPr>
                                <m:t>2</m:t>
                              </m:r>
                            </m:sup>
                          </m:sSup>
                        </m:num>
                        <m:den>
                          <m:r>
                            <a:rPr lang="en-US" sz="4000" b="0" i="1" smtClean="0">
                              <a:solidFill>
                                <a:srgbClr val="000000"/>
                              </a:solidFill>
                              <a:latin typeface="Cambria Math" panose="02040503050406030204" pitchFamily="18" charset="0"/>
                              <a:cs typeface="Arial" panose="020B0604020202020204" pitchFamily="34" charset="0"/>
                            </a:rPr>
                            <m:t>4</m:t>
                          </m:r>
                          <m:sSup>
                            <m:sSupPr>
                              <m:ctrlPr>
                                <a:rPr lang="en-US" sz="4000" b="0" i="1" smtClean="0">
                                  <a:solidFill>
                                    <a:srgbClr val="000000"/>
                                  </a:solidFill>
                                  <a:latin typeface="Cambria Math" panose="02040503050406030204" pitchFamily="18" charset="0"/>
                                  <a:cs typeface="Arial" panose="020B0604020202020204" pitchFamily="34" charset="0"/>
                                </a:rPr>
                              </m:ctrlPr>
                            </m:sSupPr>
                            <m:e>
                              <m:r>
                                <a:rPr lang="en-US" sz="4000" b="0" i="1" smtClean="0">
                                  <a:solidFill>
                                    <a:srgbClr val="000000"/>
                                  </a:solidFill>
                                  <a:latin typeface="Cambria Math" panose="02040503050406030204" pitchFamily="18" charset="0"/>
                                  <a:cs typeface="Arial" panose="020B0604020202020204" pitchFamily="34" charset="0"/>
                                </a:rPr>
                                <m:t>𝑎</m:t>
                              </m:r>
                            </m:e>
                            <m:sup>
                              <m:r>
                                <a:rPr lang="en-US" sz="4000" b="0" i="1" smtClean="0">
                                  <a:solidFill>
                                    <a:srgbClr val="000000"/>
                                  </a:solidFill>
                                  <a:latin typeface="Cambria Math" panose="02040503050406030204" pitchFamily="18" charset="0"/>
                                  <a:cs typeface="Arial" panose="020B0604020202020204" pitchFamily="34" charset="0"/>
                                </a:rPr>
                                <m:t>2</m:t>
                              </m:r>
                            </m:sup>
                          </m:sSup>
                        </m:den>
                      </m:f>
                      <m:r>
                        <a:rPr lang="en-US" sz="4000" b="0" i="0" smtClean="0">
                          <a:solidFill>
                            <a:srgbClr val="000000"/>
                          </a:solidFill>
                          <a:latin typeface="Cambria Math" panose="02040503050406030204" pitchFamily="18" charset="0"/>
                          <a:cs typeface="Arial" panose="020B0604020202020204" pitchFamily="34" charset="0"/>
                        </a:rPr>
                        <m:t>=</m:t>
                      </m:r>
                      <m:f>
                        <m:fPr>
                          <m:ctrlPr>
                            <a:rPr lang="en-US" sz="4000" b="0" i="1" smtClean="0">
                              <a:solidFill>
                                <a:srgbClr val="000000"/>
                              </a:solidFill>
                              <a:latin typeface="Cambria Math" panose="02040503050406030204" pitchFamily="18" charset="0"/>
                              <a:cs typeface="Arial" panose="020B0604020202020204" pitchFamily="34" charset="0"/>
                            </a:rPr>
                          </m:ctrlPr>
                        </m:fPr>
                        <m:num>
                          <m:r>
                            <a:rPr lang="en-US" sz="4000" b="0" i="1" smtClean="0">
                              <a:solidFill>
                                <a:srgbClr val="000000"/>
                              </a:solidFill>
                              <a:latin typeface="Cambria Math" panose="02040503050406030204" pitchFamily="18" charset="0"/>
                              <a:cs typeface="Arial" panose="020B0604020202020204" pitchFamily="34" charset="0"/>
                            </a:rPr>
                            <m:t>−</m:t>
                          </m:r>
                          <m:r>
                            <a:rPr lang="en-US" sz="4000" b="0" i="1" smtClean="0">
                              <a:solidFill>
                                <a:srgbClr val="000000"/>
                              </a:solidFill>
                              <a:latin typeface="Cambria Math" panose="02040503050406030204" pitchFamily="18" charset="0"/>
                              <a:cs typeface="Arial" panose="020B0604020202020204" pitchFamily="34" charset="0"/>
                            </a:rPr>
                            <m:t>𝑐</m:t>
                          </m:r>
                        </m:num>
                        <m:den>
                          <m:r>
                            <a:rPr lang="en-US" sz="4000" b="0" i="1" smtClean="0">
                              <a:solidFill>
                                <a:srgbClr val="000000"/>
                              </a:solidFill>
                              <a:latin typeface="Cambria Math" panose="02040503050406030204" pitchFamily="18" charset="0"/>
                              <a:cs typeface="Arial" panose="020B0604020202020204" pitchFamily="34" charset="0"/>
                            </a:rPr>
                            <m:t>𝑎</m:t>
                          </m:r>
                        </m:den>
                      </m:f>
                      <m:r>
                        <a:rPr lang="en-US" sz="4000" b="0" i="0" smtClean="0">
                          <a:solidFill>
                            <a:srgbClr val="000000"/>
                          </a:solidFill>
                          <a:latin typeface="Cambria Math" panose="02040503050406030204" pitchFamily="18" charset="0"/>
                          <a:cs typeface="Arial" panose="020B0604020202020204" pitchFamily="34" charset="0"/>
                        </a:rPr>
                        <m:t>+</m:t>
                      </m:r>
                      <m:f>
                        <m:fPr>
                          <m:ctrlPr>
                            <a:rPr lang="en-US" sz="4000" b="0" i="1" smtClean="0">
                              <a:solidFill>
                                <a:srgbClr val="000000"/>
                              </a:solidFill>
                              <a:latin typeface="Cambria Math" panose="02040503050406030204" pitchFamily="18" charset="0"/>
                              <a:cs typeface="Arial" panose="020B0604020202020204" pitchFamily="34" charset="0"/>
                            </a:rPr>
                          </m:ctrlPr>
                        </m:fPr>
                        <m:num>
                          <m:sSup>
                            <m:sSupPr>
                              <m:ctrlPr>
                                <a:rPr lang="en-US" sz="4000" b="0" i="1" smtClean="0">
                                  <a:solidFill>
                                    <a:srgbClr val="000000"/>
                                  </a:solidFill>
                                  <a:latin typeface="Cambria Math" panose="02040503050406030204" pitchFamily="18" charset="0"/>
                                  <a:cs typeface="Arial" panose="020B0604020202020204" pitchFamily="34" charset="0"/>
                                </a:rPr>
                              </m:ctrlPr>
                            </m:sSupPr>
                            <m:e>
                              <m:r>
                                <a:rPr lang="en-US" sz="4000" b="0" i="1" smtClean="0">
                                  <a:solidFill>
                                    <a:srgbClr val="000000"/>
                                  </a:solidFill>
                                  <a:latin typeface="Cambria Math" panose="02040503050406030204" pitchFamily="18" charset="0"/>
                                  <a:cs typeface="Arial" panose="020B0604020202020204" pitchFamily="34" charset="0"/>
                                </a:rPr>
                                <m:t>𝑏</m:t>
                              </m:r>
                            </m:e>
                            <m:sup>
                              <m:r>
                                <a:rPr lang="en-US" sz="4000" b="0" i="1" smtClean="0">
                                  <a:solidFill>
                                    <a:srgbClr val="000000"/>
                                  </a:solidFill>
                                  <a:latin typeface="Cambria Math" panose="02040503050406030204" pitchFamily="18" charset="0"/>
                                  <a:cs typeface="Arial" panose="020B0604020202020204" pitchFamily="34" charset="0"/>
                                </a:rPr>
                                <m:t>2</m:t>
                              </m:r>
                            </m:sup>
                          </m:sSup>
                        </m:num>
                        <m:den>
                          <m:r>
                            <a:rPr lang="en-US" sz="4000" b="0" i="1" smtClean="0">
                              <a:solidFill>
                                <a:srgbClr val="000000"/>
                              </a:solidFill>
                              <a:latin typeface="Cambria Math" panose="02040503050406030204" pitchFamily="18" charset="0"/>
                              <a:cs typeface="Arial" panose="020B0604020202020204" pitchFamily="34" charset="0"/>
                            </a:rPr>
                            <m:t>4</m:t>
                          </m:r>
                          <m:sSup>
                            <m:sSupPr>
                              <m:ctrlPr>
                                <a:rPr lang="en-US" sz="4000" b="0" i="1" smtClean="0">
                                  <a:solidFill>
                                    <a:srgbClr val="000000"/>
                                  </a:solidFill>
                                  <a:latin typeface="Cambria Math" panose="02040503050406030204" pitchFamily="18" charset="0"/>
                                  <a:cs typeface="Arial" panose="020B0604020202020204" pitchFamily="34" charset="0"/>
                                </a:rPr>
                              </m:ctrlPr>
                            </m:sSupPr>
                            <m:e>
                              <m:r>
                                <a:rPr lang="en-US" sz="4000" b="0" i="1" smtClean="0">
                                  <a:solidFill>
                                    <a:srgbClr val="000000"/>
                                  </a:solidFill>
                                  <a:latin typeface="Cambria Math" panose="02040503050406030204" pitchFamily="18" charset="0"/>
                                  <a:cs typeface="Arial" panose="020B0604020202020204" pitchFamily="34" charset="0"/>
                                </a:rPr>
                                <m:t>𝑎</m:t>
                              </m:r>
                            </m:e>
                            <m:sup>
                              <m:r>
                                <a:rPr lang="en-US" sz="4000" b="0" i="1" smtClean="0">
                                  <a:solidFill>
                                    <a:srgbClr val="000000"/>
                                  </a:solidFill>
                                  <a:latin typeface="Cambria Math" panose="02040503050406030204" pitchFamily="18" charset="0"/>
                                  <a:cs typeface="Arial" panose="020B0604020202020204" pitchFamily="34" charset="0"/>
                                </a:rPr>
                                <m:t>2</m:t>
                              </m:r>
                            </m:sup>
                          </m:sSup>
                        </m:den>
                      </m:f>
                    </m:oMath>
                  </m:oMathPara>
                </a14:m>
                <a:endParaRPr lang="en-US" sz="40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28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28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406413" y="2219329"/>
                <a:ext cx="7098373" cy="4050019"/>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74931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584892" y="2031627"/>
            <a:ext cx="7098373" cy="4140429"/>
          </a:xfrm>
          <a:prstGeom prst="rect">
            <a:avLst/>
          </a:prstGeom>
        </p:spPr>
        <p:txBody>
          <a:bodyPr lIns="0" tIns="0" rIns="0" bIns="0" rtlCol="0" anchor="t">
            <a:spAutoFit/>
          </a:bodyPr>
          <a:lstStyle/>
          <a:p>
            <a:pPr algn="ctr" defTabSz="609630">
              <a:lnSpc>
                <a:spcPct val="150000"/>
              </a:lnSpc>
            </a:pPr>
            <a:r>
              <a:rPr lang="en-US" sz="2800" b="1" dirty="0">
                <a:solidFill>
                  <a:srgbClr val="000000"/>
                </a:solidFill>
                <a:latin typeface="Cambria" panose="02040503050406030204" pitchFamily="18" charset="0"/>
                <a:ea typeface="Cambria" panose="02040503050406030204" pitchFamily="18" charset="0"/>
                <a:cs typeface="Arial" panose="020B0604020202020204" pitchFamily="34" charset="0"/>
              </a:rPr>
              <a:t>STEP 4.</a:t>
            </a:r>
          </a:p>
          <a:p>
            <a:pPr algn="ctr"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Factor the perfect square trinomial.</a:t>
            </a: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ts val="8587"/>
              </a:lnSpc>
            </a:pPr>
            <a:endParaRPr lang="en-US" sz="2800" dirty="0">
              <a:solidFill>
                <a:srgbClr val="000000"/>
              </a:solidFill>
              <a:latin typeface="Cambria" panose="020405030504060302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936874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74239"/>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406413" y="2219329"/>
                <a:ext cx="7098373" cy="4609019"/>
              </a:xfrm>
              <a:prstGeom prst="rect">
                <a:avLst/>
              </a:prstGeom>
            </p:spPr>
            <p:txBody>
              <a:bodyPr lIns="0" tIns="0" rIns="0" bIns="0" rtlCol="0" anchor="t">
                <a:spAutoFit/>
              </a:bodyPr>
              <a:lstStyle/>
              <a:p>
                <a:pPr algn="ctr" defTabSz="609630">
                  <a:lnSpc>
                    <a:spcPct val="150000"/>
                  </a:lnSpc>
                </a:pPr>
                <a:r>
                  <a:rPr lang="en-US" sz="3200" dirty="0">
                    <a:solidFill>
                      <a:srgbClr val="000000"/>
                    </a:solidFill>
                    <a:latin typeface="Century" panose="02040604050505020304" pitchFamily="18" charset="0"/>
                    <a:cs typeface="Arial" panose="020B0604020202020204" pitchFamily="34" charset="0"/>
                  </a:rPr>
                  <a:t>If we factor out </a:t>
                </a:r>
                <a14:m>
                  <m:oMath xmlns:m="http://schemas.openxmlformats.org/officeDocument/2006/math">
                    <m:sSup>
                      <m:sSupPr>
                        <m:ctrlPr>
                          <a:rPr lang="en-US" sz="3200" b="0" i="1" smtClean="0">
                            <a:solidFill>
                              <a:srgbClr val="000000"/>
                            </a:solidFill>
                            <a:latin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cs typeface="Arial" panose="020B0604020202020204" pitchFamily="34" charset="0"/>
                          </a:rPr>
                          <m:t>𝑥</m:t>
                        </m:r>
                      </m:e>
                      <m:sup>
                        <m:r>
                          <a:rPr lang="en-US" sz="3200" b="0" i="1" smtClean="0">
                            <a:solidFill>
                              <a:srgbClr val="000000"/>
                            </a:solidFill>
                            <a:latin typeface="Cambria Math" panose="02040503050406030204" pitchFamily="18" charset="0"/>
                            <a:cs typeface="Arial" panose="020B0604020202020204" pitchFamily="34" charset="0"/>
                          </a:rPr>
                          <m:t>2</m:t>
                        </m:r>
                      </m:sup>
                    </m:sSup>
                    <m:r>
                      <a:rPr lang="en-US" sz="3200" b="0" i="1" smtClean="0">
                        <a:solidFill>
                          <a:srgbClr val="000000"/>
                        </a:solidFill>
                        <a:latin typeface="Cambria Math" panose="02040503050406030204" pitchFamily="18" charset="0"/>
                        <a:cs typeface="Arial" panose="020B0604020202020204" pitchFamily="34" charset="0"/>
                      </a:rPr>
                      <m:t>+</m:t>
                    </m:r>
                    <m:f>
                      <m:fPr>
                        <m:ctrlPr>
                          <a:rPr lang="en-US" sz="3200" b="0" i="1" smtClean="0">
                            <a:solidFill>
                              <a:srgbClr val="000000"/>
                            </a:solidFill>
                            <a:latin typeface="Cambria Math" panose="02040503050406030204" pitchFamily="18" charset="0"/>
                            <a:cs typeface="Arial" panose="020B0604020202020204" pitchFamily="34" charset="0"/>
                          </a:rPr>
                        </m:ctrlPr>
                      </m:fPr>
                      <m:num>
                        <m:r>
                          <a:rPr lang="en-US" sz="3200" b="0" i="1" smtClean="0">
                            <a:solidFill>
                              <a:srgbClr val="000000"/>
                            </a:solidFill>
                            <a:latin typeface="Cambria Math" panose="02040503050406030204" pitchFamily="18" charset="0"/>
                            <a:cs typeface="Arial" panose="020B0604020202020204" pitchFamily="34" charset="0"/>
                          </a:rPr>
                          <m:t>𝑏𝑥</m:t>
                        </m:r>
                      </m:num>
                      <m:den>
                        <m:r>
                          <a:rPr lang="en-US" sz="3200" b="0" i="1" smtClean="0">
                            <a:solidFill>
                              <a:srgbClr val="000000"/>
                            </a:solidFill>
                            <a:latin typeface="Cambria Math" panose="02040503050406030204" pitchFamily="18" charset="0"/>
                            <a:cs typeface="Arial" panose="020B0604020202020204" pitchFamily="34" charset="0"/>
                          </a:rPr>
                          <m:t>𝑎</m:t>
                        </m:r>
                      </m:den>
                    </m:f>
                    <m:r>
                      <a:rPr lang="en-US" sz="3200" b="0" i="0" smtClean="0">
                        <a:solidFill>
                          <a:srgbClr val="000000"/>
                        </a:solidFill>
                        <a:latin typeface="Cambria Math" panose="02040503050406030204" pitchFamily="18" charset="0"/>
                        <a:cs typeface="Arial" panose="020B0604020202020204" pitchFamily="34" charset="0"/>
                      </a:rPr>
                      <m:t>+</m:t>
                    </m:r>
                    <m:f>
                      <m:fPr>
                        <m:ctrlPr>
                          <a:rPr lang="en-US" sz="3200" b="0" i="1" smtClean="0">
                            <a:solidFill>
                              <a:srgbClr val="000000"/>
                            </a:solidFill>
                            <a:latin typeface="Cambria Math" panose="02040503050406030204" pitchFamily="18" charset="0"/>
                            <a:cs typeface="Arial" panose="020B0604020202020204" pitchFamily="34" charset="0"/>
                          </a:rPr>
                        </m:ctrlPr>
                      </m:fPr>
                      <m:num>
                        <m:sSup>
                          <m:sSupPr>
                            <m:ctrlPr>
                              <a:rPr lang="en-US" sz="3200" b="0" i="1" smtClean="0">
                                <a:solidFill>
                                  <a:srgbClr val="000000"/>
                                </a:solidFill>
                                <a:latin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cs typeface="Arial" panose="020B0604020202020204" pitchFamily="34" charset="0"/>
                              </a:rPr>
                              <m:t>𝑏</m:t>
                            </m:r>
                          </m:e>
                          <m:sup>
                            <m:r>
                              <a:rPr lang="en-US" sz="3200" b="0" i="1" smtClean="0">
                                <a:solidFill>
                                  <a:srgbClr val="000000"/>
                                </a:solidFill>
                                <a:latin typeface="Cambria Math" panose="02040503050406030204" pitchFamily="18" charset="0"/>
                                <a:cs typeface="Arial" panose="020B0604020202020204" pitchFamily="34" charset="0"/>
                              </a:rPr>
                              <m:t>2</m:t>
                            </m:r>
                          </m:sup>
                        </m:sSup>
                      </m:num>
                      <m:den>
                        <m:r>
                          <a:rPr lang="en-US" sz="3200" b="0" i="1" smtClean="0">
                            <a:solidFill>
                              <a:srgbClr val="000000"/>
                            </a:solidFill>
                            <a:latin typeface="Cambria Math" panose="02040503050406030204" pitchFamily="18" charset="0"/>
                            <a:cs typeface="Arial" panose="020B0604020202020204" pitchFamily="34" charset="0"/>
                          </a:rPr>
                          <m:t>4</m:t>
                        </m:r>
                        <m:sSup>
                          <m:sSupPr>
                            <m:ctrlPr>
                              <a:rPr lang="en-US" sz="3200" b="0" i="1" smtClean="0">
                                <a:solidFill>
                                  <a:srgbClr val="000000"/>
                                </a:solidFill>
                                <a:latin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cs typeface="Arial" panose="020B0604020202020204" pitchFamily="34" charset="0"/>
                              </a:rPr>
                              <m:t>𝑎</m:t>
                            </m:r>
                          </m:e>
                          <m:sup>
                            <m:r>
                              <a:rPr lang="en-US" sz="3200" b="0" i="1" smtClean="0">
                                <a:solidFill>
                                  <a:srgbClr val="000000"/>
                                </a:solidFill>
                                <a:latin typeface="Cambria Math" panose="02040503050406030204" pitchFamily="18" charset="0"/>
                                <a:cs typeface="Arial" panose="020B0604020202020204" pitchFamily="34" charset="0"/>
                              </a:rPr>
                              <m:t>2</m:t>
                            </m:r>
                          </m:sup>
                        </m:sSup>
                      </m:den>
                    </m:f>
                    <m:r>
                      <a:rPr lang="en-US" sz="3200" b="0" i="0" smtClean="0">
                        <a:solidFill>
                          <a:srgbClr val="000000"/>
                        </a:solidFill>
                        <a:latin typeface="Cambria Math" panose="02040503050406030204" pitchFamily="18" charset="0"/>
                        <a:cs typeface="Arial" panose="020B0604020202020204" pitchFamily="34" charset="0"/>
                      </a:rPr>
                      <m:t>=</m:t>
                    </m:r>
                    <m:f>
                      <m:fPr>
                        <m:ctrlPr>
                          <a:rPr lang="en-US" sz="3200" b="0" i="1" smtClean="0">
                            <a:solidFill>
                              <a:srgbClr val="000000"/>
                            </a:solidFill>
                            <a:latin typeface="Cambria Math" panose="02040503050406030204" pitchFamily="18" charset="0"/>
                            <a:cs typeface="Arial" panose="020B0604020202020204" pitchFamily="34" charset="0"/>
                          </a:rPr>
                        </m:ctrlPr>
                      </m:fPr>
                      <m:num>
                        <m:r>
                          <a:rPr lang="en-US" sz="3200" b="0" i="1" smtClean="0">
                            <a:solidFill>
                              <a:srgbClr val="000000"/>
                            </a:solidFill>
                            <a:latin typeface="Cambria Math" panose="02040503050406030204" pitchFamily="18" charset="0"/>
                            <a:cs typeface="Arial" panose="020B0604020202020204" pitchFamily="34" charset="0"/>
                          </a:rPr>
                          <m:t>−</m:t>
                        </m:r>
                        <m:r>
                          <a:rPr lang="en-US" sz="3200" b="0" i="1" smtClean="0">
                            <a:solidFill>
                              <a:srgbClr val="000000"/>
                            </a:solidFill>
                            <a:latin typeface="Cambria Math" panose="02040503050406030204" pitchFamily="18" charset="0"/>
                            <a:cs typeface="Arial" panose="020B0604020202020204" pitchFamily="34" charset="0"/>
                          </a:rPr>
                          <m:t>𝑐</m:t>
                        </m:r>
                      </m:num>
                      <m:den>
                        <m:r>
                          <a:rPr lang="en-US" sz="3200" b="0" i="1" smtClean="0">
                            <a:solidFill>
                              <a:srgbClr val="000000"/>
                            </a:solidFill>
                            <a:latin typeface="Cambria Math" panose="02040503050406030204" pitchFamily="18" charset="0"/>
                            <a:cs typeface="Arial" panose="020B0604020202020204" pitchFamily="34" charset="0"/>
                          </a:rPr>
                          <m:t>𝑎</m:t>
                        </m:r>
                      </m:den>
                    </m:f>
                  </m:oMath>
                </a14:m>
                <a:r>
                  <a:rPr lang="en-US" sz="3200" dirty="0">
                    <a:solidFill>
                      <a:srgbClr val="000000"/>
                    </a:solidFill>
                    <a:latin typeface="Century" panose="02040604050505020304" pitchFamily="18" charset="0"/>
                    <a:cs typeface="Arial" panose="020B0604020202020204" pitchFamily="34" charset="0"/>
                  </a:rPr>
                  <a:t>, we get </a:t>
                </a:r>
                <a14:m>
                  <m:oMath xmlns:m="http://schemas.openxmlformats.org/officeDocument/2006/math">
                    <m:sSup>
                      <m:sSupPr>
                        <m:ctrlPr>
                          <a:rPr lang="en-US" sz="3200" i="1" smtClean="0">
                            <a:solidFill>
                              <a:srgbClr val="000000"/>
                            </a:solidFill>
                            <a:latin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cs typeface="Arial" panose="020B0604020202020204" pitchFamily="34" charset="0"/>
                          </a:rPr>
                          <m:t>(</m:t>
                        </m:r>
                        <m:r>
                          <a:rPr lang="en-US" sz="3200" b="0" i="1" smtClean="0">
                            <a:solidFill>
                              <a:srgbClr val="000000"/>
                            </a:solidFill>
                            <a:latin typeface="Cambria Math" panose="02040503050406030204" pitchFamily="18" charset="0"/>
                            <a:cs typeface="Arial" panose="020B0604020202020204" pitchFamily="34" charset="0"/>
                          </a:rPr>
                          <m:t>𝑥</m:t>
                        </m:r>
                        <m:r>
                          <a:rPr lang="en-US" sz="3200" b="0" i="1" smtClean="0">
                            <a:solidFill>
                              <a:srgbClr val="000000"/>
                            </a:solidFill>
                            <a:latin typeface="Cambria Math" panose="02040503050406030204" pitchFamily="18" charset="0"/>
                            <a:cs typeface="Arial" panose="020B0604020202020204" pitchFamily="34" charset="0"/>
                          </a:rPr>
                          <m:t>+</m:t>
                        </m:r>
                        <m:f>
                          <m:fPr>
                            <m:ctrlPr>
                              <a:rPr lang="en-US" sz="3200" b="0" i="1" smtClean="0">
                                <a:solidFill>
                                  <a:srgbClr val="000000"/>
                                </a:solidFill>
                                <a:latin typeface="Cambria Math" panose="02040503050406030204" pitchFamily="18" charset="0"/>
                                <a:cs typeface="Arial" panose="020B0604020202020204" pitchFamily="34" charset="0"/>
                              </a:rPr>
                            </m:ctrlPr>
                          </m:fPr>
                          <m:num>
                            <m:r>
                              <a:rPr lang="en-US" sz="3200" b="0" i="1" smtClean="0">
                                <a:solidFill>
                                  <a:srgbClr val="000000"/>
                                </a:solidFill>
                                <a:latin typeface="Cambria Math" panose="02040503050406030204" pitchFamily="18" charset="0"/>
                                <a:cs typeface="Arial" panose="020B0604020202020204" pitchFamily="34" charset="0"/>
                              </a:rPr>
                              <m:t>𝑏</m:t>
                            </m:r>
                          </m:num>
                          <m:den>
                            <m:r>
                              <a:rPr lang="en-US" sz="3200" b="0" i="1" smtClean="0">
                                <a:solidFill>
                                  <a:srgbClr val="000000"/>
                                </a:solidFill>
                                <a:latin typeface="Cambria Math" panose="02040503050406030204" pitchFamily="18" charset="0"/>
                                <a:cs typeface="Arial" panose="020B0604020202020204" pitchFamily="34" charset="0"/>
                              </a:rPr>
                              <m:t>2</m:t>
                            </m:r>
                            <m:r>
                              <a:rPr lang="en-US" sz="3200" b="0" i="1" smtClean="0">
                                <a:solidFill>
                                  <a:srgbClr val="000000"/>
                                </a:solidFill>
                                <a:latin typeface="Cambria Math" panose="02040503050406030204" pitchFamily="18" charset="0"/>
                                <a:cs typeface="Arial" panose="020B0604020202020204" pitchFamily="34" charset="0"/>
                              </a:rPr>
                              <m:t>𝑎</m:t>
                            </m:r>
                          </m:den>
                        </m:f>
                        <m:r>
                          <a:rPr lang="en-US" sz="3200" b="0" i="1" smtClean="0">
                            <a:solidFill>
                              <a:srgbClr val="000000"/>
                            </a:solidFill>
                            <a:latin typeface="Cambria Math" panose="02040503050406030204" pitchFamily="18" charset="0"/>
                            <a:cs typeface="Arial" panose="020B0604020202020204" pitchFamily="34" charset="0"/>
                          </a:rPr>
                          <m:t>)</m:t>
                        </m:r>
                      </m:e>
                      <m:sup>
                        <m:r>
                          <a:rPr lang="en-US" sz="3200" b="0" i="1" smtClean="0">
                            <a:solidFill>
                              <a:srgbClr val="000000"/>
                            </a:solidFill>
                            <a:latin typeface="Cambria Math" panose="02040503050406030204" pitchFamily="18" charset="0"/>
                            <a:cs typeface="Arial" panose="020B0604020202020204" pitchFamily="34" charset="0"/>
                          </a:rPr>
                          <m:t>2</m:t>
                        </m:r>
                      </m:sup>
                    </m:sSup>
                  </m:oMath>
                </a14:m>
                <a:r>
                  <a:rPr lang="en-US" sz="3200" dirty="0">
                    <a:solidFill>
                      <a:srgbClr val="000000"/>
                    </a:solidFill>
                    <a:latin typeface="Century" panose="02040604050505020304" pitchFamily="18" charset="0"/>
                    <a:cs typeface="Arial" panose="020B0604020202020204" pitchFamily="34" charset="0"/>
                  </a:rPr>
                  <a:t>.</a:t>
                </a: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32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406413" y="2219329"/>
                <a:ext cx="7098373" cy="4609019"/>
              </a:xfrm>
              <a:prstGeom prst="rect">
                <a:avLst/>
              </a:prstGeom>
              <a:blipFill>
                <a:blip r:embed="rId11"/>
                <a:stretch>
                  <a:fillRect l="-2148" r="-3522"/>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4272622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6660"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388533" y="2428256"/>
                <a:ext cx="7098373" cy="3844386"/>
              </a:xfrm>
              <a:prstGeom prst="rect">
                <a:avLst/>
              </a:prstGeom>
            </p:spPr>
            <p:txBody>
              <a:bodyPr lIns="0" tIns="0" rIns="0" bIns="0" rtlCol="0" anchor="t">
                <a:spAutoFit/>
              </a:bodyPr>
              <a:lstStyle/>
              <a:p>
                <a:pPr algn="ctr" defTabSz="609630">
                  <a:lnSpc>
                    <a:spcPct val="150000"/>
                  </a:lnSpc>
                </a:pPr>
                <a14:m>
                  <m:oMathPara xmlns:m="http://schemas.openxmlformats.org/officeDocument/2006/math">
                    <m:oMathParaPr>
                      <m:jc m:val="centerGroup"/>
                    </m:oMathParaPr>
                    <m:oMath xmlns:m="http://schemas.openxmlformats.org/officeDocument/2006/math">
                      <m:sSup>
                        <m:sSupPr>
                          <m:ctrlPr>
                            <a:rPr lang="en-US" sz="3200" i="1" smtClean="0">
                              <a:solidFill>
                                <a:srgbClr val="000000"/>
                              </a:solidFill>
                              <a:latin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cs typeface="Arial" panose="020B0604020202020204" pitchFamily="34" charset="0"/>
                            </a:rPr>
                            <m:t>(</m:t>
                          </m:r>
                          <m:r>
                            <a:rPr lang="en-US" sz="3200" b="0" i="1" smtClean="0">
                              <a:solidFill>
                                <a:srgbClr val="000000"/>
                              </a:solidFill>
                              <a:latin typeface="Cambria Math" panose="02040503050406030204" pitchFamily="18" charset="0"/>
                              <a:cs typeface="Arial" panose="020B0604020202020204" pitchFamily="34" charset="0"/>
                            </a:rPr>
                            <m:t>𝑥</m:t>
                          </m:r>
                          <m:r>
                            <a:rPr lang="en-US" sz="3200" b="0" i="1" smtClean="0">
                              <a:solidFill>
                                <a:srgbClr val="000000"/>
                              </a:solidFill>
                              <a:latin typeface="Cambria Math" panose="02040503050406030204" pitchFamily="18" charset="0"/>
                              <a:cs typeface="Arial" panose="020B0604020202020204" pitchFamily="34" charset="0"/>
                            </a:rPr>
                            <m:t>+</m:t>
                          </m:r>
                          <m:f>
                            <m:fPr>
                              <m:ctrlPr>
                                <a:rPr lang="en-US" sz="3200" b="0" i="1" smtClean="0">
                                  <a:solidFill>
                                    <a:srgbClr val="000000"/>
                                  </a:solidFill>
                                  <a:latin typeface="Cambria Math" panose="02040503050406030204" pitchFamily="18" charset="0"/>
                                  <a:cs typeface="Arial" panose="020B0604020202020204" pitchFamily="34" charset="0"/>
                                </a:rPr>
                              </m:ctrlPr>
                            </m:fPr>
                            <m:num>
                              <m:r>
                                <a:rPr lang="en-US" sz="3200" b="0" i="1" smtClean="0">
                                  <a:solidFill>
                                    <a:srgbClr val="000000"/>
                                  </a:solidFill>
                                  <a:latin typeface="Cambria Math" panose="02040503050406030204" pitchFamily="18" charset="0"/>
                                  <a:cs typeface="Arial" panose="020B0604020202020204" pitchFamily="34" charset="0"/>
                                </a:rPr>
                                <m:t>𝑏</m:t>
                              </m:r>
                            </m:num>
                            <m:den>
                              <m:r>
                                <a:rPr lang="en-US" sz="3200" b="0" i="1" smtClean="0">
                                  <a:solidFill>
                                    <a:srgbClr val="000000"/>
                                  </a:solidFill>
                                  <a:latin typeface="Cambria Math" panose="02040503050406030204" pitchFamily="18" charset="0"/>
                                  <a:cs typeface="Arial" panose="020B0604020202020204" pitchFamily="34" charset="0"/>
                                </a:rPr>
                                <m:t>2</m:t>
                              </m:r>
                              <m:r>
                                <a:rPr lang="en-US" sz="3200" b="0" i="1" smtClean="0">
                                  <a:solidFill>
                                    <a:srgbClr val="000000"/>
                                  </a:solidFill>
                                  <a:latin typeface="Cambria Math" panose="02040503050406030204" pitchFamily="18" charset="0"/>
                                  <a:cs typeface="Arial" panose="020B0604020202020204" pitchFamily="34" charset="0"/>
                                </a:rPr>
                                <m:t>𝑎</m:t>
                              </m:r>
                            </m:den>
                          </m:f>
                          <m:r>
                            <a:rPr lang="en-US" sz="3200" b="0" i="1" smtClean="0">
                              <a:solidFill>
                                <a:srgbClr val="000000"/>
                              </a:solidFill>
                              <a:latin typeface="Cambria Math" panose="02040503050406030204" pitchFamily="18" charset="0"/>
                              <a:cs typeface="Arial" panose="020B0604020202020204" pitchFamily="34" charset="0"/>
                            </a:rPr>
                            <m:t>)</m:t>
                          </m:r>
                        </m:e>
                        <m:sup>
                          <m:r>
                            <a:rPr lang="en-US" sz="3200" b="0" i="1" smtClean="0">
                              <a:solidFill>
                                <a:srgbClr val="000000"/>
                              </a:solidFill>
                              <a:latin typeface="Cambria Math" panose="02040503050406030204" pitchFamily="18" charset="0"/>
                              <a:cs typeface="Arial" panose="020B0604020202020204" pitchFamily="34" charset="0"/>
                            </a:rPr>
                            <m:t>2</m:t>
                          </m:r>
                        </m:sup>
                      </m:sSup>
                      <m:r>
                        <a:rPr lang="en-US" sz="3200" b="0" i="0" smtClean="0">
                          <a:solidFill>
                            <a:srgbClr val="000000"/>
                          </a:solidFill>
                          <a:latin typeface="Cambria Math" panose="02040503050406030204" pitchFamily="18" charset="0"/>
                          <a:cs typeface="Arial" panose="020B0604020202020204" pitchFamily="34" charset="0"/>
                        </a:rPr>
                        <m:t>=</m:t>
                      </m:r>
                      <m:f>
                        <m:fPr>
                          <m:ctrlPr>
                            <a:rPr lang="en-US" sz="3200" b="0" i="1" smtClean="0">
                              <a:solidFill>
                                <a:srgbClr val="000000"/>
                              </a:solidFill>
                              <a:latin typeface="Cambria Math" panose="02040503050406030204" pitchFamily="18" charset="0"/>
                              <a:cs typeface="Arial" panose="020B0604020202020204" pitchFamily="34" charset="0"/>
                            </a:rPr>
                          </m:ctrlPr>
                        </m:fPr>
                        <m:num>
                          <m:sSup>
                            <m:sSupPr>
                              <m:ctrlPr>
                                <a:rPr lang="en-US" sz="3200" b="0" i="1" smtClean="0">
                                  <a:solidFill>
                                    <a:srgbClr val="000000"/>
                                  </a:solidFill>
                                  <a:latin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cs typeface="Arial" panose="020B0604020202020204" pitchFamily="34" charset="0"/>
                                </a:rPr>
                                <m:t>𝑏</m:t>
                              </m:r>
                            </m:e>
                            <m:sup>
                              <m:r>
                                <a:rPr lang="en-US" sz="3200" b="0" i="1" smtClean="0">
                                  <a:solidFill>
                                    <a:srgbClr val="000000"/>
                                  </a:solidFill>
                                  <a:latin typeface="Cambria Math" panose="02040503050406030204" pitchFamily="18" charset="0"/>
                                  <a:cs typeface="Arial" panose="020B0604020202020204" pitchFamily="34" charset="0"/>
                                </a:rPr>
                                <m:t>2</m:t>
                              </m:r>
                            </m:sup>
                          </m:sSup>
                          <m:r>
                            <a:rPr lang="en-US" sz="3200" b="0" i="1" smtClean="0">
                              <a:solidFill>
                                <a:srgbClr val="000000"/>
                              </a:solidFill>
                              <a:latin typeface="Cambria Math" panose="02040503050406030204" pitchFamily="18" charset="0"/>
                              <a:cs typeface="Arial" panose="020B0604020202020204" pitchFamily="34" charset="0"/>
                            </a:rPr>
                            <m:t>−4</m:t>
                          </m:r>
                          <m:r>
                            <a:rPr lang="en-US" sz="3200" b="0" i="1" smtClean="0">
                              <a:solidFill>
                                <a:srgbClr val="000000"/>
                              </a:solidFill>
                              <a:latin typeface="Cambria Math" panose="02040503050406030204" pitchFamily="18" charset="0"/>
                              <a:cs typeface="Arial" panose="020B0604020202020204" pitchFamily="34" charset="0"/>
                            </a:rPr>
                            <m:t>𝑎𝑐</m:t>
                          </m:r>
                        </m:num>
                        <m:den>
                          <m:r>
                            <a:rPr lang="en-US" sz="3200" b="0" i="1" smtClean="0">
                              <a:solidFill>
                                <a:srgbClr val="000000"/>
                              </a:solidFill>
                              <a:latin typeface="Cambria Math" panose="02040503050406030204" pitchFamily="18" charset="0"/>
                              <a:cs typeface="Arial" panose="020B0604020202020204" pitchFamily="34" charset="0"/>
                            </a:rPr>
                            <m:t>4</m:t>
                          </m:r>
                          <m:sSup>
                            <m:sSupPr>
                              <m:ctrlPr>
                                <a:rPr lang="en-US" sz="3200" b="0" i="1" smtClean="0">
                                  <a:solidFill>
                                    <a:srgbClr val="000000"/>
                                  </a:solidFill>
                                  <a:latin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cs typeface="Arial" panose="020B0604020202020204" pitchFamily="34" charset="0"/>
                                </a:rPr>
                                <m:t>𝑎</m:t>
                              </m:r>
                            </m:e>
                            <m:sup>
                              <m:r>
                                <a:rPr lang="en-US" sz="3200" b="0" i="1" smtClean="0">
                                  <a:solidFill>
                                    <a:srgbClr val="000000"/>
                                  </a:solidFill>
                                  <a:latin typeface="Cambria Math" panose="02040503050406030204" pitchFamily="18" charset="0"/>
                                  <a:cs typeface="Arial" panose="020B0604020202020204" pitchFamily="34" charset="0"/>
                                </a:rPr>
                                <m:t>2</m:t>
                              </m:r>
                            </m:sup>
                          </m:sSup>
                        </m:den>
                      </m:f>
                    </m:oMath>
                  </m:oMathPara>
                </a14:m>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32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388533" y="2428256"/>
                <a:ext cx="7098373" cy="3844386"/>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745947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584892" y="2031627"/>
            <a:ext cx="7098373" cy="4786760"/>
          </a:xfrm>
          <a:prstGeom prst="rect">
            <a:avLst/>
          </a:prstGeom>
        </p:spPr>
        <p:txBody>
          <a:bodyPr lIns="0" tIns="0" rIns="0" bIns="0" rtlCol="0" anchor="t">
            <a:spAutoFit/>
          </a:bodyPr>
          <a:lstStyle/>
          <a:p>
            <a:pPr algn="ctr" defTabSz="609630">
              <a:lnSpc>
                <a:spcPct val="150000"/>
              </a:lnSpc>
            </a:pPr>
            <a:r>
              <a:rPr lang="en-US" sz="2800" b="1" dirty="0">
                <a:solidFill>
                  <a:srgbClr val="000000"/>
                </a:solidFill>
                <a:latin typeface="Cambria" panose="02040503050406030204" pitchFamily="18" charset="0"/>
                <a:ea typeface="Cambria" panose="02040503050406030204" pitchFamily="18" charset="0"/>
                <a:cs typeface="Arial" panose="020B0604020202020204" pitchFamily="34" charset="0"/>
              </a:rPr>
              <a:t>STEP 5.</a:t>
            </a:r>
          </a:p>
          <a:p>
            <a:pPr algn="just"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Extract the square root from both sides. Two values will be obtained for the right side of the equation.</a:t>
            </a: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ts val="8587"/>
              </a:lnSpc>
            </a:pPr>
            <a:endParaRPr lang="en-US" sz="2800" dirty="0">
              <a:solidFill>
                <a:srgbClr val="000000"/>
              </a:solidFill>
              <a:latin typeface="Cambria" panose="020405030504060302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4054484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6660"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384909" y="2187278"/>
                <a:ext cx="7098373" cy="4575420"/>
              </a:xfrm>
              <a:prstGeom prst="rect">
                <a:avLst/>
              </a:prstGeom>
            </p:spPr>
            <p:txBody>
              <a:bodyPr lIns="0" tIns="0" rIns="0" bIns="0" rtlCol="0" anchor="t">
                <a:spAutoFit/>
              </a:bodyPr>
              <a:lstStyle/>
              <a:p>
                <a:pPr algn="ctr" defTabSz="609630">
                  <a:lnSpc>
                    <a:spcPct val="150000"/>
                  </a:lnSpc>
                </a:pPr>
                <a14:m>
                  <m:oMathPara xmlns:m="http://schemas.openxmlformats.org/officeDocument/2006/math">
                    <m:oMathParaPr>
                      <m:jc m:val="centerGroup"/>
                    </m:oMathParaPr>
                    <m:oMath xmlns:m="http://schemas.openxmlformats.org/officeDocument/2006/math">
                      <m:r>
                        <a:rPr lang="en-US" sz="3200" b="0" i="1" smtClean="0">
                          <a:solidFill>
                            <a:srgbClr val="000000"/>
                          </a:solidFill>
                          <a:latin typeface="Cambria Math" panose="02040503050406030204" pitchFamily="18" charset="0"/>
                          <a:cs typeface="Arial" panose="020B0604020202020204" pitchFamily="34" charset="0"/>
                        </a:rPr>
                        <m:t>𝑥</m:t>
                      </m:r>
                      <m:r>
                        <a:rPr lang="en-US" sz="3200" b="0" i="1" smtClean="0">
                          <a:solidFill>
                            <a:srgbClr val="000000"/>
                          </a:solidFill>
                          <a:latin typeface="Cambria Math" panose="02040503050406030204" pitchFamily="18" charset="0"/>
                          <a:cs typeface="Arial" panose="020B0604020202020204" pitchFamily="34" charset="0"/>
                        </a:rPr>
                        <m:t>+</m:t>
                      </m:r>
                      <m:f>
                        <m:fPr>
                          <m:ctrlPr>
                            <a:rPr lang="en-US" sz="3200" b="0" i="1" smtClean="0">
                              <a:solidFill>
                                <a:srgbClr val="000000"/>
                              </a:solidFill>
                              <a:latin typeface="Cambria Math" panose="02040503050406030204" pitchFamily="18" charset="0"/>
                              <a:cs typeface="Arial" panose="020B0604020202020204" pitchFamily="34" charset="0"/>
                            </a:rPr>
                          </m:ctrlPr>
                        </m:fPr>
                        <m:num>
                          <m:r>
                            <a:rPr lang="en-US" sz="3200" b="0" i="1" smtClean="0">
                              <a:solidFill>
                                <a:srgbClr val="000000"/>
                              </a:solidFill>
                              <a:latin typeface="Cambria Math" panose="02040503050406030204" pitchFamily="18" charset="0"/>
                              <a:cs typeface="Arial" panose="020B0604020202020204" pitchFamily="34" charset="0"/>
                            </a:rPr>
                            <m:t>𝑏</m:t>
                          </m:r>
                        </m:num>
                        <m:den>
                          <m:r>
                            <a:rPr lang="en-US" sz="3200" b="0" i="1" smtClean="0">
                              <a:solidFill>
                                <a:srgbClr val="000000"/>
                              </a:solidFill>
                              <a:latin typeface="Cambria Math" panose="02040503050406030204" pitchFamily="18" charset="0"/>
                              <a:cs typeface="Arial" panose="020B0604020202020204" pitchFamily="34" charset="0"/>
                            </a:rPr>
                            <m:t>2</m:t>
                          </m:r>
                          <m:r>
                            <a:rPr lang="en-US" sz="3200" b="0" i="1" smtClean="0">
                              <a:solidFill>
                                <a:srgbClr val="000000"/>
                              </a:solidFill>
                              <a:latin typeface="Cambria Math" panose="02040503050406030204" pitchFamily="18" charset="0"/>
                              <a:cs typeface="Arial" panose="020B0604020202020204" pitchFamily="34" charset="0"/>
                            </a:rPr>
                            <m:t>𝑎</m:t>
                          </m:r>
                        </m:den>
                      </m:f>
                      <m:r>
                        <a:rPr lang="en-US" sz="3200" b="0" i="0" smtClean="0">
                          <a:solidFill>
                            <a:srgbClr val="000000"/>
                          </a:solidFill>
                          <a:latin typeface="Cambria Math" panose="02040503050406030204" pitchFamily="18" charset="0"/>
                          <a:cs typeface="Arial" panose="020B0604020202020204" pitchFamily="34" charset="0"/>
                        </a:rPr>
                        <m:t>=</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𝑏</m:t>
                                  </m:r>
                                </m:e>
                                <m:sup>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p>
                              </m:sSup>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−4</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𝑎𝑐</m:t>
                              </m:r>
                            </m:num>
                            <m:den>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4</m:t>
                              </m:r>
                              <m:sSup>
                                <m:sSupPr>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𝑎</m:t>
                                  </m:r>
                                </m:e>
                                <m:sup>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p>
                              </m:sSup>
                            </m:den>
                          </m:f>
                        </m:e>
                      </m:rad>
                    </m:oMath>
                  </m:oMathPara>
                </a14:m>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32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384909" y="2187278"/>
                <a:ext cx="7098373" cy="4575420"/>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2555159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6660"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384909" y="2187278"/>
                <a:ext cx="7098373" cy="4575420"/>
              </a:xfrm>
              <a:prstGeom prst="rect">
                <a:avLst/>
              </a:prstGeom>
            </p:spPr>
            <p:txBody>
              <a:bodyPr lIns="0" tIns="0" rIns="0" bIns="0" rtlCol="0" anchor="t">
                <a:spAutoFit/>
              </a:bodyPr>
              <a:lstStyle/>
              <a:p>
                <a:pPr algn="ctr" defTabSz="609630">
                  <a:lnSpc>
                    <a:spcPct val="150000"/>
                  </a:lnSpc>
                </a:pPr>
                <a14:m>
                  <m:oMathPara xmlns:m="http://schemas.openxmlformats.org/officeDocument/2006/math">
                    <m:oMathParaPr>
                      <m:jc m:val="centerGroup"/>
                    </m:oMathParaPr>
                    <m:oMath xmlns:m="http://schemas.openxmlformats.org/officeDocument/2006/math">
                      <m:r>
                        <a:rPr lang="en-US" sz="3200" b="0" i="1" smtClean="0">
                          <a:solidFill>
                            <a:srgbClr val="000000"/>
                          </a:solidFill>
                          <a:latin typeface="Cambria Math" panose="02040503050406030204" pitchFamily="18" charset="0"/>
                          <a:cs typeface="Arial" panose="020B0604020202020204" pitchFamily="34" charset="0"/>
                        </a:rPr>
                        <m:t>𝑥</m:t>
                      </m:r>
                      <m:r>
                        <a:rPr lang="en-US" sz="3200" b="0" i="1" smtClean="0">
                          <a:solidFill>
                            <a:srgbClr val="000000"/>
                          </a:solidFill>
                          <a:latin typeface="Cambria Math" panose="02040503050406030204" pitchFamily="18" charset="0"/>
                          <a:cs typeface="Arial" panose="020B0604020202020204" pitchFamily="34" charset="0"/>
                        </a:rPr>
                        <m:t>+</m:t>
                      </m:r>
                      <m:f>
                        <m:fPr>
                          <m:ctrlPr>
                            <a:rPr lang="en-US" sz="3200" b="0" i="1" smtClean="0">
                              <a:solidFill>
                                <a:srgbClr val="000000"/>
                              </a:solidFill>
                              <a:latin typeface="Cambria Math" panose="02040503050406030204" pitchFamily="18" charset="0"/>
                              <a:cs typeface="Arial" panose="020B0604020202020204" pitchFamily="34" charset="0"/>
                            </a:rPr>
                          </m:ctrlPr>
                        </m:fPr>
                        <m:num>
                          <m:r>
                            <a:rPr lang="en-US" sz="3200" b="0" i="1" smtClean="0">
                              <a:solidFill>
                                <a:srgbClr val="000000"/>
                              </a:solidFill>
                              <a:latin typeface="Cambria Math" panose="02040503050406030204" pitchFamily="18" charset="0"/>
                              <a:cs typeface="Arial" panose="020B0604020202020204" pitchFamily="34" charset="0"/>
                            </a:rPr>
                            <m:t>𝑏</m:t>
                          </m:r>
                        </m:num>
                        <m:den>
                          <m:r>
                            <a:rPr lang="en-US" sz="3200" b="0" i="1" smtClean="0">
                              <a:solidFill>
                                <a:srgbClr val="000000"/>
                              </a:solidFill>
                              <a:latin typeface="Cambria Math" panose="02040503050406030204" pitchFamily="18" charset="0"/>
                              <a:cs typeface="Arial" panose="020B0604020202020204" pitchFamily="34" charset="0"/>
                            </a:rPr>
                            <m:t>2</m:t>
                          </m:r>
                          <m:r>
                            <a:rPr lang="en-US" sz="3200" b="0" i="1" smtClean="0">
                              <a:solidFill>
                                <a:srgbClr val="000000"/>
                              </a:solidFill>
                              <a:latin typeface="Cambria Math" panose="02040503050406030204" pitchFamily="18" charset="0"/>
                              <a:cs typeface="Arial" panose="020B0604020202020204" pitchFamily="34" charset="0"/>
                            </a:rPr>
                            <m:t>𝑎</m:t>
                          </m:r>
                        </m:den>
                      </m:f>
                      <m:r>
                        <a:rPr lang="en-US" sz="3200" b="0" i="0" smtClean="0">
                          <a:solidFill>
                            <a:srgbClr val="000000"/>
                          </a:solidFill>
                          <a:latin typeface="Cambria Math" panose="02040503050406030204" pitchFamily="18" charset="0"/>
                          <a:cs typeface="Arial" panose="020B0604020202020204" pitchFamily="34" charset="0"/>
                        </a:rPr>
                        <m:t>=</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𝑏</m:t>
                                  </m:r>
                                </m:e>
                                <m:sup>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p>
                              </m:sSup>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−4</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𝑎𝑐</m:t>
                              </m:r>
                            </m:num>
                            <m:den>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𝑎</m:t>
                              </m:r>
                            </m:den>
                          </m:f>
                        </m:e>
                      </m:rad>
                    </m:oMath>
                  </m:oMathPara>
                </a14:m>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32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384909" y="2187278"/>
                <a:ext cx="7098373" cy="4575420"/>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40965766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584892" y="2031627"/>
                <a:ext cx="7098373" cy="4424929"/>
              </a:xfrm>
              <a:prstGeom prst="rect">
                <a:avLst/>
              </a:prstGeom>
            </p:spPr>
            <p:txBody>
              <a:bodyPr lIns="0" tIns="0" rIns="0" bIns="0" rtlCol="0" anchor="t">
                <a:spAutoFit/>
              </a:bodyPr>
              <a:lstStyle/>
              <a:p>
                <a:pPr algn="ctr" defTabSz="609630">
                  <a:lnSpc>
                    <a:spcPct val="150000"/>
                  </a:lnSpc>
                </a:pPr>
                <a:r>
                  <a:rPr lang="en-US" sz="2800" b="1" dirty="0">
                    <a:solidFill>
                      <a:srgbClr val="000000"/>
                    </a:solidFill>
                    <a:latin typeface="Cambria" panose="02040503050406030204" pitchFamily="18" charset="0"/>
                    <a:ea typeface="Cambria" panose="02040503050406030204" pitchFamily="18" charset="0"/>
                    <a:cs typeface="Arial" panose="020B0604020202020204" pitchFamily="34" charset="0"/>
                  </a:rPr>
                  <a:t>STEP 6.</a:t>
                </a:r>
              </a:p>
              <a:p>
                <a:pPr algn="just"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Solve for x by transposing </a:t>
                </a:r>
                <a14:m>
                  <m:oMath xmlns:m="http://schemas.openxmlformats.org/officeDocument/2006/math">
                    <m:f>
                      <m:fPr>
                        <m:ctrlPr>
                          <a:rPr lang="en-US" sz="280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fPr>
                      <m:num>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𝑏</m:t>
                        </m:r>
                      </m:num>
                      <m:den>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𝑎</m:t>
                        </m:r>
                      </m:den>
                    </m:f>
                  </m:oMath>
                </a14:m>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 on the right of the equation .</a:t>
                </a: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ts val="8587"/>
                  </a:lnSpc>
                </a:pPr>
                <a:endParaRPr lang="en-US" sz="2800" dirty="0">
                  <a:solidFill>
                    <a:srgbClr val="000000"/>
                  </a:solidFill>
                  <a:latin typeface="Cambria" panose="02040503050406030204" pitchFamily="18" charset="0"/>
                  <a:ea typeface="Cambria" panose="020405030504060302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584892" y="2031627"/>
                <a:ext cx="7098373" cy="4424929"/>
              </a:xfrm>
              <a:prstGeom prst="rect">
                <a:avLst/>
              </a:prstGeom>
              <a:blipFill>
                <a:blip r:embed="rId11"/>
                <a:stretch>
                  <a:fillRect l="-3007" r="-3093"/>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39384454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6660"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384909" y="2187278"/>
                <a:ext cx="7098373" cy="4575420"/>
              </a:xfrm>
              <a:prstGeom prst="rect">
                <a:avLst/>
              </a:prstGeom>
            </p:spPr>
            <p:txBody>
              <a:bodyPr lIns="0" tIns="0" rIns="0" bIns="0" rtlCol="0" anchor="t">
                <a:spAutoFit/>
              </a:bodyPr>
              <a:lstStyle/>
              <a:p>
                <a:pPr algn="ctr" defTabSz="609630">
                  <a:lnSpc>
                    <a:spcPct val="150000"/>
                  </a:lnSpc>
                </a:pPr>
                <a14:m>
                  <m:oMathPara xmlns:m="http://schemas.openxmlformats.org/officeDocument/2006/math">
                    <m:oMathParaPr>
                      <m:jc m:val="centerGroup"/>
                    </m:oMathParaPr>
                    <m:oMath xmlns:m="http://schemas.openxmlformats.org/officeDocument/2006/math">
                      <m:r>
                        <a:rPr lang="en-US" sz="3200" b="0" i="1" smtClean="0">
                          <a:solidFill>
                            <a:srgbClr val="000000"/>
                          </a:solidFill>
                          <a:latin typeface="Cambria Math" panose="02040503050406030204" pitchFamily="18" charset="0"/>
                          <a:cs typeface="Arial" panose="020B0604020202020204" pitchFamily="34" charset="0"/>
                        </a:rPr>
                        <m:t>𝑥</m:t>
                      </m:r>
                      <m:r>
                        <a:rPr lang="en-US" sz="3200" b="0" i="0" smtClean="0">
                          <a:solidFill>
                            <a:srgbClr val="000000"/>
                          </a:solidFill>
                          <a:latin typeface="Cambria Math" panose="02040503050406030204" pitchFamily="18" charset="0"/>
                          <a:cs typeface="Arial" panose="020B0604020202020204" pitchFamily="34" charset="0"/>
                        </a:rPr>
                        <m:t>=</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fPr>
                            <m:num>
                              <m:sSup>
                                <m:sSupPr>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𝑏</m:t>
                                  </m:r>
                                </m:e>
                                <m:sup>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p>
                              </m:sSup>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−4</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𝑎𝑐</m:t>
                              </m:r>
                            </m:num>
                            <m:den>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𝑎</m:t>
                              </m:r>
                            </m:den>
                          </m:f>
                        </m:e>
                      </m:rad>
                      <m:r>
                        <a:rPr lang="en-US" sz="3200" b="0" i="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f>
                        <m:fPr>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fPr>
                        <m:num>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𝑏</m:t>
                          </m:r>
                        </m:num>
                        <m:den>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𝑎</m:t>
                          </m:r>
                        </m:den>
                      </m:f>
                    </m:oMath>
                  </m:oMathPara>
                </a14:m>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32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384909" y="2187278"/>
                <a:ext cx="7098373" cy="4575420"/>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504965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584892" y="2031627"/>
            <a:ext cx="7098373" cy="2847767"/>
          </a:xfrm>
          <a:prstGeom prst="rect">
            <a:avLst/>
          </a:prstGeom>
        </p:spPr>
        <p:txBody>
          <a:bodyPr lIns="0" tIns="0" rIns="0" bIns="0" rtlCol="0" anchor="t">
            <a:spAutoFit/>
          </a:bodyPr>
          <a:lstStyle/>
          <a:p>
            <a:pPr algn="ctr" defTabSz="609630">
              <a:lnSpc>
                <a:spcPct val="150000"/>
              </a:lnSpc>
            </a:pPr>
            <a:r>
              <a:rPr lang="en-US" sz="2800" b="1" dirty="0">
                <a:solidFill>
                  <a:srgbClr val="000000"/>
                </a:solidFill>
                <a:latin typeface="Cambria" panose="02040503050406030204" pitchFamily="18" charset="0"/>
                <a:ea typeface="Cambria" panose="02040503050406030204" pitchFamily="18" charset="0"/>
                <a:cs typeface="Arial" panose="020B0604020202020204" pitchFamily="34" charset="0"/>
              </a:rPr>
              <a:t>STEP 7.</a:t>
            </a:r>
          </a:p>
          <a:p>
            <a:pPr algn="ctr"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Combine like terms on the right side.</a:t>
            </a: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ts val="8587"/>
              </a:lnSpc>
            </a:pPr>
            <a:endParaRPr lang="en-US" sz="2800" dirty="0">
              <a:solidFill>
                <a:srgbClr val="000000"/>
              </a:solidFill>
              <a:latin typeface="Cambria" panose="020405030504060302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5318679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6660"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446737" y="2486815"/>
                <a:ext cx="7098373" cy="3976345"/>
              </a:xfrm>
              <a:prstGeom prst="rect">
                <a:avLst/>
              </a:prstGeom>
            </p:spPr>
            <p:txBody>
              <a:bodyPr lIns="0" tIns="0" rIns="0" bIns="0" rtlCol="0" anchor="t">
                <a:spAutoFit/>
              </a:bodyPr>
              <a:lstStyle/>
              <a:p>
                <a:pPr algn="ctr" defTabSz="609630">
                  <a:lnSpc>
                    <a:spcPct val="150000"/>
                  </a:lnSpc>
                </a:pPr>
                <a14:m>
                  <m:oMathPara xmlns:m="http://schemas.openxmlformats.org/officeDocument/2006/math">
                    <m:oMathParaPr>
                      <m:jc m:val="centerGroup"/>
                    </m:oMathParaPr>
                    <m:oMath xmlns:m="http://schemas.openxmlformats.org/officeDocument/2006/math">
                      <m:r>
                        <a:rPr lang="en-US" sz="3200" b="0" i="1" smtClean="0">
                          <a:solidFill>
                            <a:srgbClr val="000000"/>
                          </a:solidFill>
                          <a:latin typeface="Cambria Math" panose="02040503050406030204" pitchFamily="18" charset="0"/>
                          <a:cs typeface="Arial" panose="020B0604020202020204" pitchFamily="34" charset="0"/>
                        </a:rPr>
                        <m:t>𝑥</m:t>
                      </m:r>
                      <m:r>
                        <a:rPr lang="en-US" sz="3200" b="0" i="0" smtClean="0">
                          <a:solidFill>
                            <a:srgbClr val="000000"/>
                          </a:solidFill>
                          <a:latin typeface="Cambria Math" panose="02040503050406030204" pitchFamily="18" charset="0"/>
                          <a:cs typeface="Arial" panose="020B0604020202020204" pitchFamily="34" charset="0"/>
                        </a:rPr>
                        <m:t>=</m:t>
                      </m:r>
                      <m:f>
                        <m:fPr>
                          <m:ctrlPr>
                            <a:rPr lang="en-US" sz="3200" b="0" i="1" smtClean="0">
                              <a:solidFill>
                                <a:srgbClr val="000000"/>
                              </a:solidFill>
                              <a:latin typeface="Cambria Math" panose="02040503050406030204" pitchFamily="18" charset="0"/>
                              <a:cs typeface="Arial" panose="020B0604020202020204" pitchFamily="34" charset="0"/>
                            </a:rPr>
                          </m:ctrlPr>
                        </m:fPr>
                        <m:num>
                          <m:r>
                            <a:rPr lang="en-US" sz="3200" b="0" i="1" smtClean="0">
                              <a:solidFill>
                                <a:srgbClr val="000000"/>
                              </a:solidFill>
                              <a:latin typeface="Cambria Math" panose="02040503050406030204" pitchFamily="18" charset="0"/>
                              <a:cs typeface="Arial" panose="020B0604020202020204" pitchFamily="34" charset="0"/>
                            </a:rPr>
                            <m:t>−</m:t>
                          </m:r>
                          <m:r>
                            <a:rPr lang="en-US" sz="3200" b="0" i="1" smtClean="0">
                              <a:solidFill>
                                <a:srgbClr val="000000"/>
                              </a:solidFill>
                              <a:latin typeface="Cambria Math" panose="02040503050406030204" pitchFamily="18" charset="0"/>
                              <a:cs typeface="Arial" panose="020B0604020202020204" pitchFamily="34" charset="0"/>
                            </a:rPr>
                            <m:t>𝑏</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radPr>
                            <m:deg/>
                            <m:e>
                              <m:sSup>
                                <m:sSupPr>
                                  <m:ctrlP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𝑏</m:t>
                                  </m:r>
                                </m:e>
                                <m:sup>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p>
                              </m:sSup>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−4</m:t>
                              </m:r>
                              <m:r>
                                <a:rPr lang="en-US" sz="3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𝑎𝑐</m:t>
                              </m:r>
                            </m:e>
                          </m:rad>
                        </m:num>
                        <m:den>
                          <m:r>
                            <a:rPr lang="en-US" sz="3200" b="0" i="1" smtClean="0">
                              <a:solidFill>
                                <a:srgbClr val="000000"/>
                              </a:solidFill>
                              <a:latin typeface="Cambria Math" panose="02040503050406030204" pitchFamily="18" charset="0"/>
                              <a:cs typeface="Arial" panose="020B0604020202020204" pitchFamily="34" charset="0"/>
                            </a:rPr>
                            <m:t>2</m:t>
                          </m:r>
                          <m:r>
                            <a:rPr lang="en-US" sz="3200" b="0" i="1" smtClean="0">
                              <a:solidFill>
                                <a:srgbClr val="000000"/>
                              </a:solidFill>
                              <a:latin typeface="Cambria Math" panose="02040503050406030204" pitchFamily="18" charset="0"/>
                              <a:cs typeface="Arial" panose="020B0604020202020204" pitchFamily="34" charset="0"/>
                            </a:rPr>
                            <m:t>𝑎</m:t>
                          </m:r>
                        </m:den>
                      </m:f>
                    </m:oMath>
                  </m:oMathPara>
                </a14:m>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ct val="150000"/>
                  </a:lnSpc>
                </a:pPr>
                <a:endParaRPr lang="en-US" sz="3200" dirty="0">
                  <a:solidFill>
                    <a:srgbClr val="000000"/>
                  </a:solidFill>
                  <a:latin typeface="Century" panose="02040604050505020304" pitchFamily="18" charset="0"/>
                  <a:cs typeface="Arial" panose="020B0604020202020204" pitchFamily="34" charset="0"/>
                </a:endParaRPr>
              </a:p>
              <a:p>
                <a:pPr algn="ctr" defTabSz="609630">
                  <a:lnSpc>
                    <a:spcPts val="8587"/>
                  </a:lnSpc>
                </a:pPr>
                <a:endParaRPr lang="en-US" sz="3200" dirty="0">
                  <a:solidFill>
                    <a:srgbClr val="000000"/>
                  </a:solidFill>
                  <a:latin typeface="Century" panose="020406040505050203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446737" y="2486815"/>
                <a:ext cx="7098373" cy="3976345"/>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5621533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584892" y="2031627"/>
                <a:ext cx="7098373" cy="3494098"/>
              </a:xfrm>
              <a:prstGeom prst="rect">
                <a:avLst/>
              </a:prstGeom>
            </p:spPr>
            <p:txBody>
              <a:bodyPr lIns="0" tIns="0" rIns="0" bIns="0" rtlCol="0" anchor="t">
                <a:spAutoFit/>
              </a:bodyPr>
              <a:lstStyle/>
              <a:p>
                <a:pPr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For illustrative examples.</a:t>
                </a:r>
              </a:p>
              <a:p>
                <a:pPr algn="ctr"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1. Find the solution of the quadratic equation, </a:t>
                </a:r>
                <a14:m>
                  <m:oMath xmlns:m="http://schemas.openxmlformats.org/officeDocument/2006/math">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Sup>
                      <m:sSupPr>
                        <m:ctrlP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sSupPr>
                      <m:e>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e>
                      <m:sup>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up>
                    </m:sSup>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+3</m:t>
                    </m:r>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−27=0 </m:t>
                    </m:r>
                  </m:oMath>
                </a14:m>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 using quadratic formula.</a:t>
                </a:r>
              </a:p>
              <a:p>
                <a:pPr algn="ctr" defTabSz="609630">
                  <a:lnSpc>
                    <a:spcPct val="150000"/>
                  </a:lnSpc>
                </a:pPr>
                <a:endPar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endParaRPr>
              </a:p>
              <a:p>
                <a:pPr algn="ctr" defTabSz="609630">
                  <a:lnSpc>
                    <a:spcPts val="8587"/>
                  </a:lnSpc>
                </a:pPr>
                <a:endParaRPr lang="en-US" sz="2800" dirty="0">
                  <a:solidFill>
                    <a:srgbClr val="000000"/>
                  </a:solidFill>
                  <a:latin typeface="Cambria" panose="02040503050406030204" pitchFamily="18" charset="0"/>
                  <a:ea typeface="Cambria" panose="020405030504060302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584892" y="2031627"/>
                <a:ext cx="7098373" cy="3494098"/>
              </a:xfrm>
              <a:prstGeom prst="rect">
                <a:avLst/>
              </a:prstGeom>
              <a:blipFill>
                <a:blip r:embed="rId11"/>
                <a:stretch>
                  <a:fillRect l="-3007" r="-2835"/>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38476464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816244" y="2694913"/>
                <a:ext cx="7098373" cy="2201436"/>
              </a:xfrm>
              <a:prstGeom prst="rect">
                <a:avLst/>
              </a:prstGeom>
            </p:spPr>
            <p:txBody>
              <a:bodyPr lIns="0" tIns="0" rIns="0" bIns="0" rtlCol="0" anchor="t">
                <a:spAutoFit/>
              </a:bodyPr>
              <a:lstStyle/>
              <a:p>
                <a:pPr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2. Find the real roots of the equation, </a:t>
                </a:r>
                <a14:m>
                  <m:oMath xmlns:m="http://schemas.openxmlformats.org/officeDocument/2006/math">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Sup>
                      <m:sSupPr>
                        <m:ctrlP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sSupPr>
                      <m:e>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e>
                      <m:sup>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up>
                    </m:sSup>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+9</m:t>
                    </m:r>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=−10</m:t>
                    </m:r>
                  </m:oMath>
                </a14:m>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 using quadratic formula.</a:t>
                </a:r>
              </a:p>
              <a:p>
                <a:pPr algn="ctr" defTabSz="609630">
                  <a:lnSpc>
                    <a:spcPts val="8587"/>
                  </a:lnSpc>
                </a:pPr>
                <a:endParaRPr lang="en-US" sz="2800" dirty="0">
                  <a:solidFill>
                    <a:srgbClr val="000000"/>
                  </a:solidFill>
                  <a:latin typeface="Cambria" panose="02040503050406030204" pitchFamily="18" charset="0"/>
                  <a:ea typeface="Cambria" panose="020405030504060302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816244" y="2694913"/>
                <a:ext cx="7098373" cy="2201436"/>
              </a:xfrm>
              <a:prstGeom prst="rect">
                <a:avLst/>
              </a:prstGeom>
              <a:blipFill>
                <a:blip r:embed="rId11"/>
                <a:stretch>
                  <a:fillRect l="-3093"/>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5810532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816244" y="2694913"/>
                <a:ext cx="7098373" cy="1212704"/>
              </a:xfrm>
              <a:prstGeom prst="rect">
                <a:avLst/>
              </a:prstGeom>
            </p:spPr>
            <p:txBody>
              <a:bodyPr lIns="0" tIns="0" rIns="0" bIns="0" rtlCol="0" anchor="t">
                <a:spAutoFit/>
              </a:bodyPr>
              <a:lstStyle/>
              <a:p>
                <a:pPr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3. Find the solution of the equation, </a:t>
                </a:r>
                <a14:m>
                  <m:oMath xmlns:m="http://schemas.openxmlformats.org/officeDocument/2006/math">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3</m:t>
                    </m:r>
                    <m:sSup>
                      <m:sSupPr>
                        <m:ctrlP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sSupPr>
                      <m:e>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e>
                      <m:sup>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up>
                    </m:sSup>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+4</m:t>
                    </m:r>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=0</m:t>
                    </m:r>
                  </m:oMath>
                </a14:m>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 using quadratic formula.</a:t>
                </a:r>
                <a:endParaRPr lang="en-US" sz="2800" dirty="0">
                  <a:solidFill>
                    <a:srgbClr val="000000"/>
                  </a:solidFill>
                  <a:latin typeface="Cambria" panose="02040503050406030204" pitchFamily="18" charset="0"/>
                  <a:ea typeface="Cambria" panose="020405030504060302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816244" y="2694913"/>
                <a:ext cx="7098373" cy="1212704"/>
              </a:xfrm>
              <a:prstGeom prst="rect">
                <a:avLst/>
              </a:prstGeom>
              <a:blipFill>
                <a:blip r:embed="rId11"/>
                <a:stretch>
                  <a:fillRect l="-3093" b="-17085"/>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41849588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816244" y="2694913"/>
                <a:ext cx="7098373" cy="1212704"/>
              </a:xfrm>
              <a:prstGeom prst="rect">
                <a:avLst/>
              </a:prstGeom>
            </p:spPr>
            <p:txBody>
              <a:bodyPr lIns="0" tIns="0" rIns="0" bIns="0" rtlCol="0" anchor="t">
                <a:spAutoFit/>
              </a:bodyPr>
              <a:lstStyle/>
              <a:p>
                <a:pPr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4. Find the solution of the equation, </a:t>
                </a:r>
                <a14:m>
                  <m:oMath xmlns:m="http://schemas.openxmlformats.org/officeDocument/2006/math">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9</m:t>
                    </m:r>
                    <m:sSup>
                      <m:sSupPr>
                        <m:ctrlP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sSupPr>
                      <m:e>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e>
                      <m:sup>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up>
                    </m:sSup>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−6</m:t>
                    </m:r>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r>
                      <a:rPr lang="en-US" sz="28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+5=0</m:t>
                    </m:r>
                  </m:oMath>
                </a14:m>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 using quadratic formula.</a:t>
                </a:r>
                <a:endParaRPr lang="en-US" sz="2800" dirty="0">
                  <a:solidFill>
                    <a:srgbClr val="000000"/>
                  </a:solidFill>
                  <a:latin typeface="Cambria" panose="02040503050406030204" pitchFamily="18" charset="0"/>
                  <a:ea typeface="Cambria" panose="020405030504060302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816244" y="2694913"/>
                <a:ext cx="7098373" cy="1212704"/>
              </a:xfrm>
              <a:prstGeom prst="rect">
                <a:avLst/>
              </a:prstGeom>
              <a:blipFill>
                <a:blip r:embed="rId11"/>
                <a:stretch>
                  <a:fillRect l="-3093" b="-17085"/>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7966862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16997" y="133749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546813" y="2219894"/>
            <a:ext cx="7098373" cy="2694007"/>
          </a:xfrm>
          <a:prstGeom prst="rect">
            <a:avLst/>
          </a:prstGeom>
        </p:spPr>
        <p:txBody>
          <a:bodyPr lIns="0" tIns="0" rIns="0" bIns="0" rtlCol="0" anchor="t">
            <a:spAutoFit/>
          </a:bodyPr>
          <a:lstStyle/>
          <a:p>
            <a:pPr algn="ctr" defTabSz="609630">
              <a:lnSpc>
                <a:spcPct val="150000"/>
              </a:lnSpc>
            </a:pPr>
            <a:r>
              <a:rPr lang="en-US" sz="5400" b="1" dirty="0">
                <a:solidFill>
                  <a:srgbClr val="000000"/>
                </a:solidFill>
                <a:latin typeface="Century" panose="02040604050505020304" pitchFamily="18" charset="0"/>
                <a:ea typeface="Cambria" panose="02040503050406030204" pitchFamily="18" charset="0"/>
                <a:cs typeface="Arial" panose="020B0604020202020204" pitchFamily="34" charset="0"/>
              </a:rPr>
              <a:t>“Solve and Mount”.</a:t>
            </a:r>
          </a:p>
          <a:p>
            <a:pPr algn="ctr" defTabSz="609630">
              <a:lnSpc>
                <a:spcPct val="150000"/>
              </a:lnSpc>
            </a:pPr>
            <a:endParaRPr lang="en-US" sz="2400" b="1" dirty="0">
              <a:solidFill>
                <a:srgbClr val="000000"/>
              </a:solidFill>
              <a:latin typeface="Century" panose="02040604050505020304" pitchFamily="18" charset="0"/>
              <a:ea typeface="Cambria" panose="02040503050406030204" pitchFamily="18" charset="0"/>
              <a:cs typeface="Arial" panose="020B0604020202020204" pitchFamily="34" charset="0"/>
            </a:endParaRPr>
          </a:p>
          <a:p>
            <a:pPr algn="ctr" defTabSz="609630">
              <a:lnSpc>
                <a:spcPts val="8587"/>
              </a:lnSpc>
            </a:pPr>
            <a:endParaRPr lang="en-US" sz="2400" b="1" dirty="0">
              <a:solidFill>
                <a:srgbClr val="000000"/>
              </a:solidFill>
              <a:latin typeface="Century" panose="020406040505050203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5566547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816244" y="2694913"/>
            <a:ext cx="7098373" cy="566374"/>
          </a:xfrm>
          <a:prstGeom prst="rect">
            <a:avLst/>
          </a:prstGeom>
        </p:spPr>
        <p:txBody>
          <a:bodyPr lIns="0" tIns="0" rIns="0" bIns="0" rtlCol="0" anchor="t">
            <a:spAutoFit/>
          </a:bodyPr>
          <a:lstStyle/>
          <a:p>
            <a:pPr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 </a:t>
            </a:r>
            <a:endParaRPr lang="en-US" sz="2800" dirty="0">
              <a:solidFill>
                <a:srgbClr val="000000"/>
              </a:solidFill>
              <a:latin typeface="Cambria" panose="020405030504060302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id="{3C149BF5-7A2B-7066-1B3F-64A97CAECD1E}"/>
                  </a:ext>
                </a:extLst>
              </p:cNvPr>
              <p:cNvGraphicFramePr>
                <a:graphicFrameLocks noGrp="1"/>
              </p:cNvGraphicFramePr>
              <p:nvPr>
                <p:extLst>
                  <p:ext uri="{D42A27DB-BD31-4B8C-83A1-F6EECF244321}">
                    <p14:modId xmlns:p14="http://schemas.microsoft.com/office/powerpoint/2010/main" val="3069292805"/>
                  </p:ext>
                </p:extLst>
              </p:nvPr>
            </p:nvGraphicFramePr>
            <p:xfrm>
              <a:off x="2595342" y="2429411"/>
              <a:ext cx="7083674" cy="2802695"/>
            </p:xfrm>
            <a:graphic>
              <a:graphicData uri="http://schemas.openxmlformats.org/drawingml/2006/table">
                <a:tbl>
                  <a:tblPr firstRow="1" bandRow="1">
                    <a:tableStyleId>{5C22544A-7EE6-4342-B048-85BDC9FD1C3A}</a:tableStyleId>
                  </a:tblPr>
                  <a:tblGrid>
                    <a:gridCol w="3541837">
                      <a:extLst>
                        <a:ext uri="{9D8B030D-6E8A-4147-A177-3AD203B41FA5}">
                          <a16:colId xmlns:a16="http://schemas.microsoft.com/office/drawing/2014/main" val="752641047"/>
                        </a:ext>
                      </a:extLst>
                    </a:gridCol>
                    <a:gridCol w="3541837">
                      <a:extLst>
                        <a:ext uri="{9D8B030D-6E8A-4147-A177-3AD203B41FA5}">
                          <a16:colId xmlns:a16="http://schemas.microsoft.com/office/drawing/2014/main" val="3135862704"/>
                        </a:ext>
                      </a:extLst>
                    </a:gridCol>
                  </a:tblGrid>
                  <a:tr h="400385">
                    <a:tc gridSpan="2">
                      <a:txBody>
                        <a:bodyPr/>
                        <a:lstStyle/>
                        <a:p>
                          <a:pPr algn="ctr"/>
                          <a:r>
                            <a:rPr lang="en-US" sz="1800" dirty="0">
                              <a:solidFill>
                                <a:schemeClr val="tx1"/>
                              </a:solidFill>
                            </a:rPr>
                            <a:t>Solve and Mount</a:t>
                          </a:r>
                        </a:p>
                      </a:txBody>
                      <a:tcPr/>
                    </a:tc>
                    <a:tc hMerge="1">
                      <a:txBody>
                        <a:bodyPr/>
                        <a:lstStyle/>
                        <a:p>
                          <a:endParaRPr lang="en-US" dirty="0"/>
                        </a:p>
                      </a:txBody>
                      <a:tcPr/>
                    </a:tc>
                    <a:extLst>
                      <a:ext uri="{0D108BD9-81ED-4DB2-BD59-A6C34878D82A}">
                        <a16:rowId xmlns:a16="http://schemas.microsoft.com/office/drawing/2014/main" val="3604967912"/>
                      </a:ext>
                    </a:extLst>
                  </a:tr>
                  <a:tr h="400385">
                    <a:tc>
                      <a:txBody>
                        <a:bodyPr/>
                        <a:lstStyle/>
                        <a:p>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−2</m:t>
                                </m:r>
                                <m:r>
                                  <a:rPr lang="en-US" sz="1600" b="0" i="1" smtClean="0">
                                    <a:latin typeface="Cambria Math" panose="02040503050406030204" pitchFamily="18" charset="0"/>
                                  </a:rPr>
                                  <m:t>𝑥</m:t>
                                </m:r>
                                <m:r>
                                  <a:rPr lang="en-US" sz="1600" b="0" i="1" smtClean="0">
                                    <a:latin typeface="Cambria Math" panose="02040503050406030204" pitchFamily="18" charset="0"/>
                                  </a:rPr>
                                  <m:t>+35=0</m:t>
                                </m:r>
                              </m:oMath>
                            </m:oMathPara>
                          </a14:m>
                          <a:endParaRPr lang="en-US" sz="1600" dirty="0"/>
                        </a:p>
                      </a:txBody>
                      <a:tcPr/>
                    </a:tc>
                    <a:tc>
                      <a:txBody>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3</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−4</m:t>
                                </m:r>
                                <m:r>
                                  <a:rPr lang="en-US" sz="1600" b="0" i="1" smtClean="0">
                                    <a:latin typeface="Cambria Math" panose="02040503050406030204" pitchFamily="18" charset="0"/>
                                  </a:rPr>
                                  <m:t>𝑥</m:t>
                                </m:r>
                                <m:r>
                                  <a:rPr lang="en-US" sz="1600" b="0" i="1" smtClean="0">
                                    <a:latin typeface="Cambria Math" panose="02040503050406030204" pitchFamily="18" charset="0"/>
                                  </a:rPr>
                                  <m:t>=1</m:t>
                                </m:r>
                              </m:oMath>
                            </m:oMathPara>
                          </a14:m>
                          <a:endParaRPr lang="en-US" sz="1600" dirty="0"/>
                        </a:p>
                      </a:txBody>
                      <a:tcPr/>
                    </a:tc>
                    <a:extLst>
                      <a:ext uri="{0D108BD9-81ED-4DB2-BD59-A6C34878D82A}">
                        <a16:rowId xmlns:a16="http://schemas.microsoft.com/office/drawing/2014/main" val="899552676"/>
                      </a:ext>
                    </a:extLst>
                  </a:tr>
                  <a:tr h="400385">
                    <a:tc>
                      <a:txBody>
                        <a:bodyPr/>
                        <a:lstStyle/>
                        <a:p>
                          <a:endParaRPr lang="en-US" dirty="0"/>
                        </a:p>
                      </a:txBody>
                      <a:tcPr>
                        <a:solidFill>
                          <a:schemeClr val="bg1"/>
                        </a:solidFill>
                      </a:tcPr>
                    </a:tc>
                    <a:tc>
                      <a:txBody>
                        <a:bodyPr/>
                        <a:lstStyle/>
                        <a:p>
                          <a:endParaRPr lang="en-US" dirty="0"/>
                        </a:p>
                      </a:txBody>
                      <a:tcPr/>
                    </a:tc>
                    <a:extLst>
                      <a:ext uri="{0D108BD9-81ED-4DB2-BD59-A6C34878D82A}">
                        <a16:rowId xmlns:a16="http://schemas.microsoft.com/office/drawing/2014/main" val="2754024397"/>
                      </a:ext>
                    </a:extLst>
                  </a:tr>
                  <a:tr h="400385">
                    <a:tc>
                      <a:txBody>
                        <a:bodyPr/>
                        <a:lstStyle/>
                        <a:p>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−3</m:t>
                                </m:r>
                                <m:r>
                                  <a:rPr lang="en-US" sz="1600" b="0" i="1" smtClean="0">
                                    <a:latin typeface="Cambria Math" panose="02040503050406030204" pitchFamily="18" charset="0"/>
                                  </a:rPr>
                                  <m:t>𝑥</m:t>
                                </m:r>
                                <m:r>
                                  <a:rPr lang="en-US" sz="1600" b="0" i="1" smtClean="0">
                                    <a:latin typeface="Cambria Math" panose="02040503050406030204" pitchFamily="18" charset="0"/>
                                  </a:rPr>
                                  <m:t>+1=0</m:t>
                                </m:r>
                              </m:oMath>
                            </m:oMathPara>
                          </a14:m>
                          <a:endParaRPr lang="en-US" sz="1600" dirty="0"/>
                        </a:p>
                      </a:txBody>
                      <a:tcPr/>
                    </a:tc>
                    <a:tc>
                      <a:txBody>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=11</m:t>
                                </m:r>
                                <m:r>
                                  <a:rPr lang="en-US" sz="1600" b="0" i="1" smtClean="0">
                                    <a:latin typeface="Cambria Math" panose="02040503050406030204" pitchFamily="18" charset="0"/>
                                  </a:rPr>
                                  <m:t>𝑥</m:t>
                                </m:r>
                                <m:r>
                                  <a:rPr lang="en-US" sz="1600" b="0" i="1" smtClean="0">
                                    <a:latin typeface="Cambria Math" panose="02040503050406030204" pitchFamily="18" charset="0"/>
                                  </a:rPr>
                                  <m:t>−5</m:t>
                                </m:r>
                              </m:oMath>
                            </m:oMathPara>
                          </a14:m>
                          <a:endParaRPr lang="en-US" sz="1600" dirty="0"/>
                        </a:p>
                      </a:txBody>
                      <a:tcPr/>
                    </a:tc>
                    <a:extLst>
                      <a:ext uri="{0D108BD9-81ED-4DB2-BD59-A6C34878D82A}">
                        <a16:rowId xmlns:a16="http://schemas.microsoft.com/office/drawing/2014/main" val="1805839303"/>
                      </a:ext>
                    </a:extLst>
                  </a:tr>
                  <a:tr h="400385">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9148378"/>
                      </a:ext>
                    </a:extLst>
                  </a:tr>
                  <a:tr h="400385">
                    <a:tc>
                      <a:txBody>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r>
                                  <a:rPr lang="en-US" sz="1600" b="0" i="1" smtClean="0">
                                    <a:latin typeface="Cambria Math" panose="02040503050406030204" pitchFamily="18" charset="0"/>
                                  </a:rPr>
                                  <m:t>𝑥</m:t>
                                </m:r>
                                <m:r>
                                  <a:rPr lang="en-US" sz="1600" b="0" i="1" smtClean="0">
                                    <a:latin typeface="Cambria Math" panose="02040503050406030204" pitchFamily="18" charset="0"/>
                                  </a:rPr>
                                  <m:t>−5=0</m:t>
                                </m:r>
                              </m:oMath>
                            </m:oMathPara>
                          </a14:m>
                          <a:endParaRPr lang="en-US" sz="1600" dirty="0"/>
                        </a:p>
                      </a:txBody>
                      <a:tcPr/>
                    </a:tc>
                    <a:tc>
                      <a:txBody>
                        <a:bodyPr/>
                        <a:lstStyle/>
                        <a:p>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+6</m:t>
                                </m:r>
                                <m:r>
                                  <a:rPr lang="en-US" sz="1600" b="0" i="1" smtClean="0">
                                    <a:latin typeface="Cambria Math" panose="02040503050406030204" pitchFamily="18" charset="0"/>
                                  </a:rPr>
                                  <m:t>𝑥</m:t>
                                </m:r>
                                <m:r>
                                  <a:rPr lang="en-US" sz="1600" b="0" i="1" smtClean="0">
                                    <a:latin typeface="Cambria Math" panose="02040503050406030204" pitchFamily="18" charset="0"/>
                                  </a:rPr>
                                  <m:t>−3=0</m:t>
                                </m:r>
                              </m:oMath>
                            </m:oMathPara>
                          </a14:m>
                          <a:endParaRPr lang="en-US" sz="1600" dirty="0"/>
                        </a:p>
                      </a:txBody>
                      <a:tcPr/>
                    </a:tc>
                    <a:extLst>
                      <a:ext uri="{0D108BD9-81ED-4DB2-BD59-A6C34878D82A}">
                        <a16:rowId xmlns:a16="http://schemas.microsoft.com/office/drawing/2014/main" val="2152600415"/>
                      </a:ext>
                    </a:extLst>
                  </a:tr>
                  <a:tr h="400385">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003059834"/>
                      </a:ext>
                    </a:extLst>
                  </a:tr>
                </a:tbl>
              </a:graphicData>
            </a:graphic>
          </p:graphicFrame>
        </mc:Choice>
        <mc:Fallback>
          <p:graphicFrame>
            <p:nvGraphicFramePr>
              <p:cNvPr id="10" name="Table 9">
                <a:extLst>
                  <a:ext uri="{FF2B5EF4-FFF2-40B4-BE49-F238E27FC236}">
                    <a16:creationId xmlns:a16="http://schemas.microsoft.com/office/drawing/2014/main" id="{3C149BF5-7A2B-7066-1B3F-64A97CAECD1E}"/>
                  </a:ext>
                </a:extLst>
              </p:cNvPr>
              <p:cNvGraphicFramePr>
                <a:graphicFrameLocks noGrp="1"/>
              </p:cNvGraphicFramePr>
              <p:nvPr>
                <p:extLst>
                  <p:ext uri="{D42A27DB-BD31-4B8C-83A1-F6EECF244321}">
                    <p14:modId xmlns:p14="http://schemas.microsoft.com/office/powerpoint/2010/main" val="3069292805"/>
                  </p:ext>
                </p:extLst>
              </p:nvPr>
            </p:nvGraphicFramePr>
            <p:xfrm>
              <a:off x="2595342" y="2429411"/>
              <a:ext cx="7083674" cy="2802695"/>
            </p:xfrm>
            <a:graphic>
              <a:graphicData uri="http://schemas.openxmlformats.org/drawingml/2006/table">
                <a:tbl>
                  <a:tblPr firstRow="1" bandRow="1">
                    <a:tableStyleId>{5C22544A-7EE6-4342-B048-85BDC9FD1C3A}</a:tableStyleId>
                  </a:tblPr>
                  <a:tblGrid>
                    <a:gridCol w="3541837">
                      <a:extLst>
                        <a:ext uri="{9D8B030D-6E8A-4147-A177-3AD203B41FA5}">
                          <a16:colId xmlns:a16="http://schemas.microsoft.com/office/drawing/2014/main" val="752641047"/>
                        </a:ext>
                      </a:extLst>
                    </a:gridCol>
                    <a:gridCol w="3541837">
                      <a:extLst>
                        <a:ext uri="{9D8B030D-6E8A-4147-A177-3AD203B41FA5}">
                          <a16:colId xmlns:a16="http://schemas.microsoft.com/office/drawing/2014/main" val="3135862704"/>
                        </a:ext>
                      </a:extLst>
                    </a:gridCol>
                  </a:tblGrid>
                  <a:tr h="400385">
                    <a:tc gridSpan="2">
                      <a:txBody>
                        <a:bodyPr/>
                        <a:lstStyle/>
                        <a:p>
                          <a:pPr algn="ctr"/>
                          <a:r>
                            <a:rPr lang="en-US" sz="1800" dirty="0">
                              <a:solidFill>
                                <a:schemeClr val="tx1"/>
                              </a:solidFill>
                            </a:rPr>
                            <a:t>Solve and Mount</a:t>
                          </a:r>
                        </a:p>
                      </a:txBody>
                      <a:tcPr/>
                    </a:tc>
                    <a:tc hMerge="1">
                      <a:txBody>
                        <a:bodyPr/>
                        <a:lstStyle/>
                        <a:p>
                          <a:endParaRPr lang="en-US" dirty="0"/>
                        </a:p>
                      </a:txBody>
                      <a:tcPr/>
                    </a:tc>
                    <a:extLst>
                      <a:ext uri="{0D108BD9-81ED-4DB2-BD59-A6C34878D82A}">
                        <a16:rowId xmlns:a16="http://schemas.microsoft.com/office/drawing/2014/main" val="3604967912"/>
                      </a:ext>
                    </a:extLst>
                  </a:tr>
                  <a:tr h="400385">
                    <a:tc>
                      <a:txBody>
                        <a:bodyPr/>
                        <a:lstStyle/>
                        <a:p>
                          <a:endParaRPr lang="en-US"/>
                        </a:p>
                      </a:txBody>
                      <a:tcPr>
                        <a:blipFill>
                          <a:blip r:embed="rId11"/>
                          <a:stretch>
                            <a:fillRect l="-172" t="-107576" r="-100515" b="-501515"/>
                          </a:stretch>
                        </a:blipFill>
                      </a:tcPr>
                    </a:tc>
                    <a:tc>
                      <a:txBody>
                        <a:bodyPr/>
                        <a:lstStyle/>
                        <a:p>
                          <a:endParaRPr lang="en-US"/>
                        </a:p>
                      </a:txBody>
                      <a:tcPr>
                        <a:blipFill>
                          <a:blip r:embed="rId11"/>
                          <a:stretch>
                            <a:fillRect l="-100344" t="-107576" r="-688" b="-501515"/>
                          </a:stretch>
                        </a:blipFill>
                      </a:tcPr>
                    </a:tc>
                    <a:extLst>
                      <a:ext uri="{0D108BD9-81ED-4DB2-BD59-A6C34878D82A}">
                        <a16:rowId xmlns:a16="http://schemas.microsoft.com/office/drawing/2014/main" val="899552676"/>
                      </a:ext>
                    </a:extLst>
                  </a:tr>
                  <a:tr h="400385">
                    <a:tc>
                      <a:txBody>
                        <a:bodyPr/>
                        <a:lstStyle/>
                        <a:p>
                          <a:endParaRPr lang="en-US" dirty="0"/>
                        </a:p>
                      </a:txBody>
                      <a:tcPr>
                        <a:solidFill>
                          <a:schemeClr val="bg1"/>
                        </a:solidFill>
                      </a:tcPr>
                    </a:tc>
                    <a:tc>
                      <a:txBody>
                        <a:bodyPr/>
                        <a:lstStyle/>
                        <a:p>
                          <a:endParaRPr lang="en-US" dirty="0"/>
                        </a:p>
                      </a:txBody>
                      <a:tcPr/>
                    </a:tc>
                    <a:extLst>
                      <a:ext uri="{0D108BD9-81ED-4DB2-BD59-A6C34878D82A}">
                        <a16:rowId xmlns:a16="http://schemas.microsoft.com/office/drawing/2014/main" val="2754024397"/>
                      </a:ext>
                    </a:extLst>
                  </a:tr>
                  <a:tr h="400385">
                    <a:tc>
                      <a:txBody>
                        <a:bodyPr/>
                        <a:lstStyle/>
                        <a:p>
                          <a:endParaRPr lang="en-US"/>
                        </a:p>
                      </a:txBody>
                      <a:tcPr>
                        <a:blipFill>
                          <a:blip r:embed="rId11"/>
                          <a:stretch>
                            <a:fillRect l="-172" t="-312308" r="-100515" b="-307692"/>
                          </a:stretch>
                        </a:blipFill>
                      </a:tcPr>
                    </a:tc>
                    <a:tc>
                      <a:txBody>
                        <a:bodyPr/>
                        <a:lstStyle/>
                        <a:p>
                          <a:endParaRPr lang="en-US"/>
                        </a:p>
                      </a:txBody>
                      <a:tcPr>
                        <a:blipFill>
                          <a:blip r:embed="rId11"/>
                          <a:stretch>
                            <a:fillRect l="-100344" t="-312308" r="-688" b="-307692"/>
                          </a:stretch>
                        </a:blipFill>
                      </a:tcPr>
                    </a:tc>
                    <a:extLst>
                      <a:ext uri="{0D108BD9-81ED-4DB2-BD59-A6C34878D82A}">
                        <a16:rowId xmlns:a16="http://schemas.microsoft.com/office/drawing/2014/main" val="1805839303"/>
                      </a:ext>
                    </a:extLst>
                  </a:tr>
                  <a:tr h="400385">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9148378"/>
                      </a:ext>
                    </a:extLst>
                  </a:tr>
                  <a:tr h="400385">
                    <a:tc>
                      <a:txBody>
                        <a:bodyPr/>
                        <a:lstStyle/>
                        <a:p>
                          <a:endParaRPr lang="en-US"/>
                        </a:p>
                      </a:txBody>
                      <a:tcPr>
                        <a:blipFill>
                          <a:blip r:embed="rId11"/>
                          <a:stretch>
                            <a:fillRect l="-172" t="-506061" r="-100515" b="-103030"/>
                          </a:stretch>
                        </a:blipFill>
                      </a:tcPr>
                    </a:tc>
                    <a:tc>
                      <a:txBody>
                        <a:bodyPr/>
                        <a:lstStyle/>
                        <a:p>
                          <a:endParaRPr lang="en-US"/>
                        </a:p>
                      </a:txBody>
                      <a:tcPr>
                        <a:blipFill>
                          <a:blip r:embed="rId11"/>
                          <a:stretch>
                            <a:fillRect l="-100344" t="-506061" r="-688" b="-103030"/>
                          </a:stretch>
                        </a:blipFill>
                      </a:tcPr>
                    </a:tc>
                    <a:extLst>
                      <a:ext uri="{0D108BD9-81ED-4DB2-BD59-A6C34878D82A}">
                        <a16:rowId xmlns:a16="http://schemas.microsoft.com/office/drawing/2014/main" val="2152600415"/>
                      </a:ext>
                    </a:extLst>
                  </a:tr>
                  <a:tr h="400385">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003059834"/>
                      </a:ext>
                    </a:extLst>
                  </a:tr>
                </a:tbl>
              </a:graphicData>
            </a:graphic>
          </p:graphicFrame>
        </mc:Fallback>
      </mc:AlternateContent>
    </p:spTree>
    <p:extLst>
      <p:ext uri="{BB962C8B-B14F-4D97-AF65-F5344CB8AC3E}">
        <p14:creationId xmlns:p14="http://schemas.microsoft.com/office/powerpoint/2010/main" val="1592284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152117" y="1738784"/>
            <a:ext cx="7970123" cy="4730527"/>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816244" y="2694913"/>
            <a:ext cx="7098373" cy="566374"/>
          </a:xfrm>
          <a:prstGeom prst="rect">
            <a:avLst/>
          </a:prstGeom>
        </p:spPr>
        <p:txBody>
          <a:bodyPr lIns="0" tIns="0" rIns="0" bIns="0" rtlCol="0" anchor="t">
            <a:spAutoFit/>
          </a:bodyPr>
          <a:lstStyle/>
          <a:p>
            <a:pPr defTabSz="609630">
              <a:lnSpc>
                <a:spcPct val="150000"/>
              </a:lnSpc>
            </a:pPr>
            <a:r>
              <a:rPr lang="en-US" sz="2800" dirty="0">
                <a:solidFill>
                  <a:srgbClr val="000000"/>
                </a:solidFill>
                <a:latin typeface="Cambria" panose="02040503050406030204" pitchFamily="18" charset="0"/>
                <a:ea typeface="Cambria" panose="02040503050406030204" pitchFamily="18" charset="0"/>
                <a:cs typeface="Arial" panose="020B0604020202020204" pitchFamily="34" charset="0"/>
              </a:rPr>
              <a:t> </a:t>
            </a:r>
            <a:endParaRPr lang="en-US" sz="2800" dirty="0">
              <a:solidFill>
                <a:srgbClr val="000000"/>
              </a:solidFill>
              <a:latin typeface="Cambria" panose="020405030504060302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id="{3C149BF5-7A2B-7066-1B3F-64A97CAECD1E}"/>
                  </a:ext>
                </a:extLst>
              </p:cNvPr>
              <p:cNvGraphicFramePr>
                <a:graphicFrameLocks noGrp="1"/>
              </p:cNvGraphicFramePr>
              <p:nvPr>
                <p:extLst>
                  <p:ext uri="{D42A27DB-BD31-4B8C-83A1-F6EECF244321}">
                    <p14:modId xmlns:p14="http://schemas.microsoft.com/office/powerpoint/2010/main" val="3817115108"/>
                  </p:ext>
                </p:extLst>
              </p:nvPr>
            </p:nvGraphicFramePr>
            <p:xfrm>
              <a:off x="2595342" y="2429411"/>
              <a:ext cx="7083674" cy="3414720"/>
            </p:xfrm>
            <a:graphic>
              <a:graphicData uri="http://schemas.openxmlformats.org/drawingml/2006/table">
                <a:tbl>
                  <a:tblPr firstRow="1" bandRow="1">
                    <a:tableStyleId>{5C22544A-7EE6-4342-B048-85BDC9FD1C3A}</a:tableStyleId>
                  </a:tblPr>
                  <a:tblGrid>
                    <a:gridCol w="3541837">
                      <a:extLst>
                        <a:ext uri="{9D8B030D-6E8A-4147-A177-3AD203B41FA5}">
                          <a16:colId xmlns:a16="http://schemas.microsoft.com/office/drawing/2014/main" val="752641047"/>
                        </a:ext>
                      </a:extLst>
                    </a:gridCol>
                    <a:gridCol w="3541837">
                      <a:extLst>
                        <a:ext uri="{9D8B030D-6E8A-4147-A177-3AD203B41FA5}">
                          <a16:colId xmlns:a16="http://schemas.microsoft.com/office/drawing/2014/main" val="3135862704"/>
                        </a:ext>
                      </a:extLst>
                    </a:gridCol>
                  </a:tblGrid>
                  <a:tr h="400385">
                    <a:tc gridSpan="2">
                      <a:txBody>
                        <a:bodyPr/>
                        <a:lstStyle/>
                        <a:p>
                          <a:pPr algn="ctr"/>
                          <a:r>
                            <a:rPr lang="en-US" sz="1800" dirty="0">
                              <a:solidFill>
                                <a:schemeClr val="tx1"/>
                              </a:solidFill>
                            </a:rPr>
                            <a:t>Solve and Mount</a:t>
                          </a:r>
                        </a:p>
                      </a:txBody>
                      <a:tcPr/>
                    </a:tc>
                    <a:tc hMerge="1">
                      <a:txBody>
                        <a:bodyPr/>
                        <a:lstStyle/>
                        <a:p>
                          <a:endParaRPr lang="en-US" dirty="0"/>
                        </a:p>
                      </a:txBody>
                      <a:tcPr/>
                    </a:tc>
                    <a:extLst>
                      <a:ext uri="{0D108BD9-81ED-4DB2-BD59-A6C34878D82A}">
                        <a16:rowId xmlns:a16="http://schemas.microsoft.com/office/drawing/2014/main" val="3604967912"/>
                      </a:ext>
                    </a:extLst>
                  </a:tr>
                  <a:tr h="400385">
                    <a:tc>
                      <a:txBody>
                        <a:bodyPr/>
                        <a:lstStyle/>
                        <a:p>
                          <a:pPr/>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−2</m:t>
                                </m:r>
                                <m:r>
                                  <a:rPr lang="en-US" sz="1600" b="0" i="1" smtClean="0">
                                    <a:latin typeface="Cambria Math" panose="02040503050406030204" pitchFamily="18" charset="0"/>
                                  </a:rPr>
                                  <m:t>𝑥</m:t>
                                </m:r>
                                <m:r>
                                  <a:rPr lang="en-US" sz="1600" b="0" i="1" smtClean="0">
                                    <a:latin typeface="Cambria Math" panose="02040503050406030204" pitchFamily="18" charset="0"/>
                                  </a:rPr>
                                  <m:t>+35=0</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3</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−4</m:t>
                                </m:r>
                                <m:r>
                                  <a:rPr lang="en-US" sz="1600" b="0" i="1" smtClean="0">
                                    <a:latin typeface="Cambria Math" panose="02040503050406030204" pitchFamily="18" charset="0"/>
                                  </a:rPr>
                                  <m:t>𝑥</m:t>
                                </m:r>
                                <m:r>
                                  <a:rPr lang="en-US" sz="1600" b="0" i="1" smtClean="0">
                                    <a:latin typeface="Cambria Math" panose="02040503050406030204" pitchFamily="18" charset="0"/>
                                  </a:rPr>
                                  <m:t>=1</m:t>
                                </m:r>
                              </m:oMath>
                            </m:oMathPara>
                          </a14:m>
                          <a:endParaRPr lang="en-US" sz="1600" dirty="0"/>
                        </a:p>
                      </a:txBody>
                      <a:tcPr/>
                    </a:tc>
                    <a:extLst>
                      <a:ext uri="{0D108BD9-81ED-4DB2-BD59-A6C34878D82A}">
                        <a16:rowId xmlns:a16="http://schemas.microsoft.com/office/drawing/2014/main" val="899552676"/>
                      </a:ext>
                    </a:extLst>
                  </a:tr>
                  <a:tr h="400385">
                    <a:tc>
                      <a:txBody>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=−5, </m:t>
                                </m:r>
                                <m:r>
                                  <a:rPr lang="en-US" sz="1600" b="0" i="1" smtClean="0">
                                    <a:latin typeface="Cambria Math" panose="02040503050406030204" pitchFamily="18" charset="0"/>
                                  </a:rPr>
                                  <m:t>𝑥</m:t>
                                </m:r>
                                <m:r>
                                  <a:rPr lang="en-US" sz="1600" b="0" i="1" smtClean="0">
                                    <a:latin typeface="Cambria Math" panose="02040503050406030204" pitchFamily="18" charset="0"/>
                                  </a:rPr>
                                  <m:t>=7</m:t>
                                </m:r>
                              </m:oMath>
                            </m:oMathPara>
                          </a14:m>
                          <a:endParaRPr lang="en-US" sz="1600" dirty="0"/>
                        </a:p>
                      </a:txBody>
                      <a:tcPr>
                        <a:solidFill>
                          <a:schemeClr val="accent2">
                            <a:lumMod val="60000"/>
                            <a:lumOff val="40000"/>
                          </a:schemeClr>
                        </a:solidFill>
                      </a:tcPr>
                    </a:tc>
                    <a:tc>
                      <a:txBody>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m:t>
                                    </m:r>
                                    <m:rad>
                                      <m:radPr>
                                        <m:degHide m:val="on"/>
                                        <m:ctrlPr>
                                          <a:rPr lang="en-US" sz="1600" b="0" i="1" smtClean="0">
                                            <a:latin typeface="Cambria Math" panose="02040503050406030204" pitchFamily="18" charset="0"/>
                                            <a:ea typeface="Cambria Math" panose="02040503050406030204" pitchFamily="18" charset="0"/>
                                          </a:rPr>
                                        </m:ctrlPr>
                                      </m:radPr>
                                      <m:deg/>
                                      <m:e>
                                        <m:r>
                                          <a:rPr lang="en-US" sz="1600" b="0" i="1" smtClean="0">
                                            <a:latin typeface="Cambria Math" panose="02040503050406030204" pitchFamily="18" charset="0"/>
                                            <a:ea typeface="Cambria Math" panose="02040503050406030204" pitchFamily="18" charset="0"/>
                                          </a:rPr>
                                          <m:t>7</m:t>
                                        </m:r>
                                      </m:e>
                                    </m:rad>
                                  </m:num>
                                  <m:den>
                                    <m:r>
                                      <a:rPr lang="en-US" sz="1600" b="0" i="1" smtClean="0">
                                        <a:latin typeface="Cambria Math" panose="02040503050406030204" pitchFamily="18" charset="0"/>
                                      </a:rPr>
                                      <m:t>3</m:t>
                                    </m:r>
                                  </m:den>
                                </m:f>
                              </m:oMath>
                            </m:oMathPara>
                          </a14:m>
                          <a:endParaRPr lang="en-US" sz="1600" dirty="0"/>
                        </a:p>
                      </a:txBody>
                      <a:tcPr>
                        <a:solidFill>
                          <a:schemeClr val="accent2">
                            <a:lumMod val="60000"/>
                            <a:lumOff val="40000"/>
                          </a:schemeClr>
                        </a:solidFill>
                      </a:tcPr>
                    </a:tc>
                    <a:extLst>
                      <a:ext uri="{0D108BD9-81ED-4DB2-BD59-A6C34878D82A}">
                        <a16:rowId xmlns:a16="http://schemas.microsoft.com/office/drawing/2014/main" val="2754024397"/>
                      </a:ext>
                    </a:extLst>
                  </a:tr>
                  <a:tr h="400385">
                    <a:tc>
                      <a:txBody>
                        <a:bodyPr/>
                        <a:lstStyle/>
                        <a:p>
                          <a:pPr/>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−3</m:t>
                                </m:r>
                                <m:r>
                                  <a:rPr lang="en-US" sz="1600" b="0" i="1" smtClean="0">
                                    <a:latin typeface="Cambria Math" panose="02040503050406030204" pitchFamily="18" charset="0"/>
                                  </a:rPr>
                                  <m:t>𝑥</m:t>
                                </m:r>
                                <m:r>
                                  <a:rPr lang="en-US" sz="1600" b="0" i="1" smtClean="0">
                                    <a:latin typeface="Cambria Math" panose="02040503050406030204" pitchFamily="18" charset="0"/>
                                  </a:rPr>
                                  <m:t>+1=0</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=11</m:t>
                                </m:r>
                                <m:r>
                                  <a:rPr lang="en-US" sz="1600" b="0" i="1" smtClean="0">
                                    <a:latin typeface="Cambria Math" panose="02040503050406030204" pitchFamily="18" charset="0"/>
                                  </a:rPr>
                                  <m:t>𝑥</m:t>
                                </m:r>
                                <m:r>
                                  <a:rPr lang="en-US" sz="1600" b="0" i="1" smtClean="0">
                                    <a:latin typeface="Cambria Math" panose="02040503050406030204" pitchFamily="18" charset="0"/>
                                  </a:rPr>
                                  <m:t>−5</m:t>
                                </m:r>
                              </m:oMath>
                            </m:oMathPara>
                          </a14:m>
                          <a:endParaRPr lang="en-US" sz="1600" dirty="0"/>
                        </a:p>
                      </a:txBody>
                      <a:tcPr/>
                    </a:tc>
                    <a:extLst>
                      <a:ext uri="{0D108BD9-81ED-4DB2-BD59-A6C34878D82A}">
                        <a16:rowId xmlns:a16="http://schemas.microsoft.com/office/drawing/2014/main" val="1805839303"/>
                      </a:ext>
                    </a:extLst>
                  </a:tr>
                  <a:tr h="400385">
                    <a:tc>
                      <a:txBody>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3</m:t>
                                    </m:r>
                                    <m:r>
                                      <a:rPr lang="en-US" sz="1600" b="0" i="1" smtClean="0">
                                        <a:latin typeface="Cambria Math" panose="02040503050406030204" pitchFamily="18" charset="0"/>
                                        <a:ea typeface="Cambria Math" panose="02040503050406030204" pitchFamily="18" charset="0"/>
                                      </a:rPr>
                                      <m:t>±</m:t>
                                    </m:r>
                                    <m:rad>
                                      <m:radPr>
                                        <m:degHide m:val="on"/>
                                        <m:ctrlPr>
                                          <a:rPr lang="en-US" sz="1600" b="0" i="1" smtClean="0">
                                            <a:latin typeface="Cambria Math" panose="02040503050406030204" pitchFamily="18" charset="0"/>
                                            <a:ea typeface="Cambria Math" panose="02040503050406030204" pitchFamily="18" charset="0"/>
                                          </a:rPr>
                                        </m:ctrlPr>
                                      </m:radPr>
                                      <m:deg/>
                                      <m:e>
                                        <m:r>
                                          <a:rPr lang="en-US" sz="1600" b="0" i="1" smtClean="0">
                                            <a:latin typeface="Cambria Math" panose="02040503050406030204" pitchFamily="18" charset="0"/>
                                            <a:ea typeface="Cambria Math" panose="02040503050406030204" pitchFamily="18" charset="0"/>
                                          </a:rPr>
                                          <m:t>5</m:t>
                                        </m:r>
                                      </m:e>
                                    </m:rad>
                                  </m:num>
                                  <m:den>
                                    <m:r>
                                      <a:rPr lang="en-US" sz="1600" b="0" i="1" smtClean="0">
                                        <a:latin typeface="Cambria Math" panose="02040503050406030204" pitchFamily="18" charset="0"/>
                                      </a:rPr>
                                      <m:t>2</m:t>
                                    </m:r>
                                  </m:den>
                                </m:f>
                              </m:oMath>
                            </m:oMathPara>
                          </a14:m>
                          <a:endParaRPr lang="en-US" sz="1600" dirty="0"/>
                        </a:p>
                      </a:txBody>
                      <a:tcPr>
                        <a:solidFill>
                          <a:srgbClr val="00B050"/>
                        </a:solidFill>
                      </a:tcPr>
                    </a:tc>
                    <a:tc>
                      <a:txBody>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r>
                                  <a:rPr lang="en-US" sz="1600" b="0" i="0" smtClean="0">
                                    <a:latin typeface="Cambria Math" panose="02040503050406030204" pitchFamily="18" charset="0"/>
                                  </a:rPr>
                                  <m:t>, </m:t>
                                </m:r>
                                <m:r>
                                  <m:rPr>
                                    <m:sty m:val="p"/>
                                  </m:rPr>
                                  <a:rPr lang="en-US" sz="1600" b="0" i="0" smtClean="0">
                                    <a:latin typeface="Cambria Math" panose="02040503050406030204" pitchFamily="18" charset="0"/>
                                  </a:rPr>
                                  <m:t>x</m:t>
                                </m:r>
                                <m:r>
                                  <a:rPr lang="en-US" sz="1600" b="0" i="0" smtClean="0">
                                    <a:latin typeface="Cambria Math" panose="02040503050406030204" pitchFamily="18" charset="0"/>
                                  </a:rPr>
                                  <m:t>=5</m:t>
                                </m:r>
                              </m:oMath>
                            </m:oMathPara>
                          </a14:m>
                          <a:endParaRPr lang="en-US" sz="1600" dirty="0"/>
                        </a:p>
                      </a:txBody>
                      <a:tcPr>
                        <a:solidFill>
                          <a:srgbClr val="00B050"/>
                        </a:solidFill>
                      </a:tcPr>
                    </a:tc>
                    <a:extLst>
                      <a:ext uri="{0D108BD9-81ED-4DB2-BD59-A6C34878D82A}">
                        <a16:rowId xmlns:a16="http://schemas.microsoft.com/office/drawing/2014/main" val="249148378"/>
                      </a:ext>
                    </a:extLst>
                  </a:tr>
                  <a:tr h="400385">
                    <a:tc>
                      <a:txBody>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2</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r>
                                  <a:rPr lang="en-US" sz="1600" b="0" i="1" smtClean="0">
                                    <a:latin typeface="Cambria Math" panose="02040503050406030204" pitchFamily="18" charset="0"/>
                                  </a:rPr>
                                  <m:t>𝑥</m:t>
                                </m:r>
                                <m:r>
                                  <a:rPr lang="en-US" sz="1600" b="0" i="1" smtClean="0">
                                    <a:latin typeface="Cambria Math" panose="02040503050406030204" pitchFamily="18" charset="0"/>
                                  </a:rPr>
                                  <m:t>−5=0</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+6</m:t>
                                </m:r>
                                <m:r>
                                  <a:rPr lang="en-US" sz="1600" b="0" i="1" smtClean="0">
                                    <a:latin typeface="Cambria Math" panose="02040503050406030204" pitchFamily="18" charset="0"/>
                                  </a:rPr>
                                  <m:t>𝑥</m:t>
                                </m:r>
                                <m:r>
                                  <a:rPr lang="en-US" sz="1600" b="0" i="1" smtClean="0">
                                    <a:latin typeface="Cambria Math" panose="02040503050406030204" pitchFamily="18" charset="0"/>
                                  </a:rPr>
                                  <m:t>−3=0</m:t>
                                </m:r>
                              </m:oMath>
                            </m:oMathPara>
                          </a14:m>
                          <a:endParaRPr lang="en-US" sz="1600" dirty="0"/>
                        </a:p>
                      </a:txBody>
                      <a:tcPr/>
                    </a:tc>
                    <a:extLst>
                      <a:ext uri="{0D108BD9-81ED-4DB2-BD59-A6C34878D82A}">
                        <a16:rowId xmlns:a16="http://schemas.microsoft.com/office/drawing/2014/main" val="2152600415"/>
                      </a:ext>
                    </a:extLst>
                  </a:tr>
                  <a:tr h="400385">
                    <a:tc>
                      <a:txBody>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ad>
                                      <m:radPr>
                                        <m:degHide m:val="on"/>
                                        <m:ctrlPr>
                                          <a:rPr lang="en-US" sz="1600" b="0" i="1" smtClean="0">
                                            <a:latin typeface="Cambria Math" panose="02040503050406030204" pitchFamily="18" charset="0"/>
                                            <a:ea typeface="Cambria Math" panose="02040503050406030204" pitchFamily="18" charset="0"/>
                                          </a:rPr>
                                        </m:ctrlPr>
                                      </m:radPr>
                                      <m:deg/>
                                      <m:e>
                                        <m:r>
                                          <a:rPr lang="en-US" sz="1600" b="0" i="1" smtClean="0">
                                            <a:latin typeface="Cambria Math" panose="02040503050406030204" pitchFamily="18" charset="0"/>
                                            <a:ea typeface="Cambria Math" panose="02040503050406030204" pitchFamily="18" charset="0"/>
                                          </a:rPr>
                                          <m:t>41</m:t>
                                        </m:r>
                                      </m:e>
                                    </m:rad>
                                  </m:num>
                                  <m:den>
                                    <m:r>
                                      <a:rPr lang="en-US" sz="1600" b="0" i="1" smtClean="0">
                                        <a:latin typeface="Cambria Math" panose="02040503050406030204" pitchFamily="18" charset="0"/>
                                      </a:rPr>
                                      <m:t>4</m:t>
                                    </m:r>
                                  </m:den>
                                </m:f>
                              </m:oMath>
                            </m:oMathPara>
                          </a14:m>
                          <a:endParaRPr lang="en-US" sz="1600" dirty="0"/>
                        </a:p>
                      </a:txBody>
                      <a:tcPr>
                        <a:solidFill>
                          <a:schemeClr val="accent2">
                            <a:lumMod val="60000"/>
                            <a:lumOff val="40000"/>
                          </a:schemeClr>
                        </a:solidFill>
                      </a:tcPr>
                    </a:tc>
                    <a:tc>
                      <a:txBody>
                        <a:bodyPr/>
                        <a:lstStyle/>
                        <a:p>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=−3±2</m:t>
                                </m:r>
                                <m:rad>
                                  <m:radPr>
                                    <m:degHide m:val="on"/>
                                    <m:ctrlPr>
                                      <a:rPr lang="en-US" sz="1600" b="0" i="1" smtClean="0">
                                        <a:latin typeface="Cambria Math" panose="02040503050406030204" pitchFamily="18" charset="0"/>
                                        <a:ea typeface="Cambria Math" panose="02040503050406030204" pitchFamily="18" charset="0"/>
                                      </a:rPr>
                                    </m:ctrlPr>
                                  </m:radPr>
                                  <m:deg/>
                                  <m:e>
                                    <m:r>
                                      <a:rPr lang="en-US" sz="1600" b="0" i="1" smtClean="0">
                                        <a:latin typeface="Cambria Math" panose="02040503050406030204" pitchFamily="18" charset="0"/>
                                        <a:ea typeface="Cambria Math" panose="02040503050406030204" pitchFamily="18" charset="0"/>
                                      </a:rPr>
                                      <m:t>3</m:t>
                                    </m:r>
                                  </m:e>
                                </m:rad>
                              </m:oMath>
                            </m:oMathPara>
                          </a14:m>
                          <a:endParaRPr lang="en-US" sz="1600" dirty="0"/>
                        </a:p>
                      </a:txBody>
                      <a:tcPr>
                        <a:solidFill>
                          <a:srgbClr val="92D050"/>
                        </a:solidFill>
                      </a:tcPr>
                    </a:tc>
                    <a:extLst>
                      <a:ext uri="{0D108BD9-81ED-4DB2-BD59-A6C34878D82A}">
                        <a16:rowId xmlns:a16="http://schemas.microsoft.com/office/drawing/2014/main" val="4003059834"/>
                      </a:ext>
                    </a:extLst>
                  </a:tr>
                </a:tbl>
              </a:graphicData>
            </a:graphic>
          </p:graphicFrame>
        </mc:Choice>
        <mc:Fallback>
          <p:graphicFrame>
            <p:nvGraphicFramePr>
              <p:cNvPr id="10" name="Table 9">
                <a:extLst>
                  <a:ext uri="{FF2B5EF4-FFF2-40B4-BE49-F238E27FC236}">
                    <a16:creationId xmlns:a16="http://schemas.microsoft.com/office/drawing/2014/main" id="{3C149BF5-7A2B-7066-1B3F-64A97CAECD1E}"/>
                  </a:ext>
                </a:extLst>
              </p:cNvPr>
              <p:cNvGraphicFramePr>
                <a:graphicFrameLocks noGrp="1"/>
              </p:cNvGraphicFramePr>
              <p:nvPr>
                <p:extLst>
                  <p:ext uri="{D42A27DB-BD31-4B8C-83A1-F6EECF244321}">
                    <p14:modId xmlns:p14="http://schemas.microsoft.com/office/powerpoint/2010/main" val="3817115108"/>
                  </p:ext>
                </p:extLst>
              </p:nvPr>
            </p:nvGraphicFramePr>
            <p:xfrm>
              <a:off x="2595342" y="2429411"/>
              <a:ext cx="7083674" cy="3414720"/>
            </p:xfrm>
            <a:graphic>
              <a:graphicData uri="http://schemas.openxmlformats.org/drawingml/2006/table">
                <a:tbl>
                  <a:tblPr firstRow="1" bandRow="1">
                    <a:tableStyleId>{5C22544A-7EE6-4342-B048-85BDC9FD1C3A}</a:tableStyleId>
                  </a:tblPr>
                  <a:tblGrid>
                    <a:gridCol w="3541837">
                      <a:extLst>
                        <a:ext uri="{9D8B030D-6E8A-4147-A177-3AD203B41FA5}">
                          <a16:colId xmlns:a16="http://schemas.microsoft.com/office/drawing/2014/main" val="752641047"/>
                        </a:ext>
                      </a:extLst>
                    </a:gridCol>
                    <a:gridCol w="3541837">
                      <a:extLst>
                        <a:ext uri="{9D8B030D-6E8A-4147-A177-3AD203B41FA5}">
                          <a16:colId xmlns:a16="http://schemas.microsoft.com/office/drawing/2014/main" val="3135862704"/>
                        </a:ext>
                      </a:extLst>
                    </a:gridCol>
                  </a:tblGrid>
                  <a:tr h="400385">
                    <a:tc gridSpan="2">
                      <a:txBody>
                        <a:bodyPr/>
                        <a:lstStyle/>
                        <a:p>
                          <a:pPr algn="ctr"/>
                          <a:r>
                            <a:rPr lang="en-US" sz="1800" dirty="0">
                              <a:solidFill>
                                <a:schemeClr val="tx1"/>
                              </a:solidFill>
                            </a:rPr>
                            <a:t>Solve and Mount</a:t>
                          </a:r>
                        </a:p>
                      </a:txBody>
                      <a:tcPr/>
                    </a:tc>
                    <a:tc hMerge="1">
                      <a:txBody>
                        <a:bodyPr/>
                        <a:lstStyle/>
                        <a:p>
                          <a:endParaRPr lang="en-US" dirty="0"/>
                        </a:p>
                      </a:txBody>
                      <a:tcPr/>
                    </a:tc>
                    <a:extLst>
                      <a:ext uri="{0D108BD9-81ED-4DB2-BD59-A6C34878D82A}">
                        <a16:rowId xmlns:a16="http://schemas.microsoft.com/office/drawing/2014/main" val="3604967912"/>
                      </a:ext>
                    </a:extLst>
                  </a:tr>
                  <a:tr h="400385">
                    <a:tc>
                      <a:txBody>
                        <a:bodyPr/>
                        <a:lstStyle/>
                        <a:p>
                          <a:endParaRPr lang="en-US"/>
                        </a:p>
                      </a:txBody>
                      <a:tcPr>
                        <a:blipFill>
                          <a:blip r:embed="rId11"/>
                          <a:stretch>
                            <a:fillRect l="-172" t="-107576" r="-100515" b="-653030"/>
                          </a:stretch>
                        </a:blipFill>
                      </a:tcPr>
                    </a:tc>
                    <a:tc>
                      <a:txBody>
                        <a:bodyPr/>
                        <a:lstStyle/>
                        <a:p>
                          <a:endParaRPr lang="en-US"/>
                        </a:p>
                      </a:txBody>
                      <a:tcPr>
                        <a:blipFill>
                          <a:blip r:embed="rId11"/>
                          <a:stretch>
                            <a:fillRect l="-100344" t="-107576" r="-688" b="-653030"/>
                          </a:stretch>
                        </a:blipFill>
                      </a:tcPr>
                    </a:tc>
                    <a:extLst>
                      <a:ext uri="{0D108BD9-81ED-4DB2-BD59-A6C34878D82A}">
                        <a16:rowId xmlns:a16="http://schemas.microsoft.com/office/drawing/2014/main" val="899552676"/>
                      </a:ext>
                    </a:extLst>
                  </a:tr>
                  <a:tr h="604139">
                    <a:tc>
                      <a:txBody>
                        <a:bodyPr/>
                        <a:lstStyle/>
                        <a:p>
                          <a:endParaRPr lang="en-US"/>
                        </a:p>
                      </a:txBody>
                      <a:tcPr>
                        <a:blipFill>
                          <a:blip r:embed="rId11"/>
                          <a:stretch>
                            <a:fillRect l="-172" t="-138384" r="-100515" b="-335354"/>
                          </a:stretch>
                        </a:blipFill>
                      </a:tcPr>
                    </a:tc>
                    <a:tc>
                      <a:txBody>
                        <a:bodyPr/>
                        <a:lstStyle/>
                        <a:p>
                          <a:endParaRPr lang="en-US"/>
                        </a:p>
                      </a:txBody>
                      <a:tcPr>
                        <a:blipFill>
                          <a:blip r:embed="rId11"/>
                          <a:stretch>
                            <a:fillRect l="-100344" t="-138384" r="-688" b="-335354"/>
                          </a:stretch>
                        </a:blipFill>
                      </a:tcPr>
                    </a:tc>
                    <a:extLst>
                      <a:ext uri="{0D108BD9-81ED-4DB2-BD59-A6C34878D82A}">
                        <a16:rowId xmlns:a16="http://schemas.microsoft.com/office/drawing/2014/main" val="2754024397"/>
                      </a:ext>
                    </a:extLst>
                  </a:tr>
                  <a:tr h="400385">
                    <a:tc>
                      <a:txBody>
                        <a:bodyPr/>
                        <a:lstStyle/>
                        <a:p>
                          <a:endParaRPr lang="en-US"/>
                        </a:p>
                      </a:txBody>
                      <a:tcPr>
                        <a:blipFill>
                          <a:blip r:embed="rId11"/>
                          <a:stretch>
                            <a:fillRect l="-172" t="-357576" r="-100515" b="-403030"/>
                          </a:stretch>
                        </a:blipFill>
                      </a:tcPr>
                    </a:tc>
                    <a:tc>
                      <a:txBody>
                        <a:bodyPr/>
                        <a:lstStyle/>
                        <a:p>
                          <a:endParaRPr lang="en-US"/>
                        </a:p>
                      </a:txBody>
                      <a:tcPr>
                        <a:blipFill>
                          <a:blip r:embed="rId11"/>
                          <a:stretch>
                            <a:fillRect l="-100344" t="-357576" r="-688" b="-403030"/>
                          </a:stretch>
                        </a:blipFill>
                      </a:tcPr>
                    </a:tc>
                    <a:extLst>
                      <a:ext uri="{0D108BD9-81ED-4DB2-BD59-A6C34878D82A}">
                        <a16:rowId xmlns:a16="http://schemas.microsoft.com/office/drawing/2014/main" val="1805839303"/>
                      </a:ext>
                    </a:extLst>
                  </a:tr>
                  <a:tr h="605346">
                    <a:tc>
                      <a:txBody>
                        <a:bodyPr/>
                        <a:lstStyle/>
                        <a:p>
                          <a:endParaRPr lang="en-US"/>
                        </a:p>
                      </a:txBody>
                      <a:tcPr>
                        <a:blipFill>
                          <a:blip r:embed="rId11"/>
                          <a:stretch>
                            <a:fillRect l="-172" t="-305051" r="-100515" b="-168687"/>
                          </a:stretch>
                        </a:blipFill>
                      </a:tcPr>
                    </a:tc>
                    <a:tc>
                      <a:txBody>
                        <a:bodyPr/>
                        <a:lstStyle/>
                        <a:p>
                          <a:endParaRPr lang="en-US"/>
                        </a:p>
                      </a:txBody>
                      <a:tcPr>
                        <a:blipFill>
                          <a:blip r:embed="rId11"/>
                          <a:stretch>
                            <a:fillRect l="-100344" t="-305051" r="-688" b="-168687"/>
                          </a:stretch>
                        </a:blipFill>
                      </a:tcPr>
                    </a:tc>
                    <a:extLst>
                      <a:ext uri="{0D108BD9-81ED-4DB2-BD59-A6C34878D82A}">
                        <a16:rowId xmlns:a16="http://schemas.microsoft.com/office/drawing/2014/main" val="249148378"/>
                      </a:ext>
                    </a:extLst>
                  </a:tr>
                  <a:tr h="400385">
                    <a:tc>
                      <a:txBody>
                        <a:bodyPr/>
                        <a:lstStyle/>
                        <a:p>
                          <a:endParaRPr lang="en-US"/>
                        </a:p>
                      </a:txBody>
                      <a:tcPr>
                        <a:blipFill>
                          <a:blip r:embed="rId11"/>
                          <a:stretch>
                            <a:fillRect l="-172" t="-607576" r="-100515" b="-153030"/>
                          </a:stretch>
                        </a:blipFill>
                      </a:tcPr>
                    </a:tc>
                    <a:tc>
                      <a:txBody>
                        <a:bodyPr/>
                        <a:lstStyle/>
                        <a:p>
                          <a:endParaRPr lang="en-US"/>
                        </a:p>
                      </a:txBody>
                      <a:tcPr>
                        <a:blipFill>
                          <a:blip r:embed="rId11"/>
                          <a:stretch>
                            <a:fillRect l="-100344" t="-607576" r="-688" b="-153030"/>
                          </a:stretch>
                        </a:blipFill>
                      </a:tcPr>
                    </a:tc>
                    <a:extLst>
                      <a:ext uri="{0D108BD9-81ED-4DB2-BD59-A6C34878D82A}">
                        <a16:rowId xmlns:a16="http://schemas.microsoft.com/office/drawing/2014/main" val="2152600415"/>
                      </a:ext>
                    </a:extLst>
                  </a:tr>
                  <a:tr h="603695">
                    <a:tc>
                      <a:txBody>
                        <a:bodyPr/>
                        <a:lstStyle/>
                        <a:p>
                          <a:endParaRPr lang="en-US"/>
                        </a:p>
                      </a:txBody>
                      <a:tcPr>
                        <a:blipFill>
                          <a:blip r:embed="rId11"/>
                          <a:stretch>
                            <a:fillRect l="-172" t="-471717" r="-100515" b="-2020"/>
                          </a:stretch>
                        </a:blipFill>
                      </a:tcPr>
                    </a:tc>
                    <a:tc>
                      <a:txBody>
                        <a:bodyPr/>
                        <a:lstStyle/>
                        <a:p>
                          <a:endParaRPr lang="en-US"/>
                        </a:p>
                      </a:txBody>
                      <a:tcPr>
                        <a:blipFill>
                          <a:blip r:embed="rId11"/>
                          <a:stretch>
                            <a:fillRect l="-100344" t="-471717" r="-688" b="-2020"/>
                          </a:stretch>
                        </a:blipFill>
                      </a:tcPr>
                    </a:tc>
                    <a:extLst>
                      <a:ext uri="{0D108BD9-81ED-4DB2-BD59-A6C34878D82A}">
                        <a16:rowId xmlns:a16="http://schemas.microsoft.com/office/drawing/2014/main" val="4003059834"/>
                      </a:ext>
                    </a:extLst>
                  </a:tr>
                </a:tbl>
              </a:graphicData>
            </a:graphic>
          </p:graphicFrame>
        </mc:Fallback>
      </mc:AlternateContent>
    </p:spTree>
    <p:extLst>
      <p:ext uri="{BB962C8B-B14F-4D97-AF65-F5344CB8AC3E}">
        <p14:creationId xmlns:p14="http://schemas.microsoft.com/office/powerpoint/2010/main" val="13575014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57845" y="2134319"/>
            <a:ext cx="7098373" cy="2814040"/>
          </a:xfrm>
          <a:prstGeom prst="rect">
            <a:avLst/>
          </a:prstGeom>
        </p:spPr>
        <p:txBody>
          <a:bodyPr lIns="0" tIns="0" rIns="0" bIns="0" rtlCol="0" anchor="t">
            <a:spAutoFit/>
          </a:bodyPr>
          <a:lstStyle/>
          <a:p>
            <a:pPr defTabSz="609630">
              <a:lnSpc>
                <a:spcPct val="150000"/>
              </a:lnSpc>
            </a:pPr>
            <a:r>
              <a:rPr lang="en-US" sz="2500" b="1" dirty="0">
                <a:solidFill>
                  <a:srgbClr val="000000"/>
                </a:solidFill>
                <a:latin typeface="Cambria" panose="02040503050406030204" pitchFamily="18" charset="0"/>
                <a:ea typeface="Cambria" panose="02040503050406030204" pitchFamily="18" charset="0"/>
                <a:cs typeface="Arial" panose="020B0604020202020204" pitchFamily="34" charset="0"/>
              </a:rPr>
              <a:t>Directions:</a:t>
            </a:r>
            <a:r>
              <a:rPr lang="en-US" sz="2500" dirty="0">
                <a:solidFill>
                  <a:srgbClr val="000000"/>
                </a:solidFill>
                <a:latin typeface="Cambria" panose="02040503050406030204" pitchFamily="18" charset="0"/>
                <a:ea typeface="Cambria" panose="02040503050406030204" pitchFamily="18" charset="0"/>
                <a:cs typeface="Arial" panose="020B0604020202020204" pitchFamily="34" charset="0"/>
              </a:rPr>
              <a:t> Find the roots of the following quadratic equation using quadratic formula. Solve the following equation and choose the correct answer from the set of cards inside the envelope and mount into the space below each equation. </a:t>
            </a:r>
            <a:endParaRPr lang="en-US" sz="2500" dirty="0">
              <a:solidFill>
                <a:srgbClr val="000000"/>
              </a:solidFill>
              <a:latin typeface="Cambria" panose="020405030504060302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3361308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57845" y="2134319"/>
            <a:ext cx="7098373" cy="2236959"/>
          </a:xfrm>
          <a:prstGeom prst="rect">
            <a:avLst/>
          </a:prstGeom>
        </p:spPr>
        <p:txBody>
          <a:bodyPr lIns="0" tIns="0" rIns="0" bIns="0" rtlCol="0" anchor="t">
            <a:spAutoFit/>
          </a:bodyPr>
          <a:lstStyle/>
          <a:p>
            <a:pPr defTabSz="609630">
              <a:lnSpc>
                <a:spcPct val="150000"/>
              </a:lnSpc>
            </a:pPr>
            <a:r>
              <a:rPr lang="en-US" sz="2500" b="1" dirty="0">
                <a:solidFill>
                  <a:srgbClr val="000000"/>
                </a:solidFill>
                <a:latin typeface="Cambria" panose="02040503050406030204" pitchFamily="18" charset="0"/>
                <a:ea typeface="Cambria" panose="02040503050406030204" pitchFamily="18" charset="0"/>
                <a:cs typeface="Arial" panose="020B0604020202020204" pitchFamily="34" charset="0"/>
              </a:rPr>
              <a:t>Directions: </a:t>
            </a:r>
            <a:r>
              <a:rPr lang="en-US" sz="2500" dirty="0">
                <a:solidFill>
                  <a:srgbClr val="000000"/>
                </a:solidFill>
                <a:latin typeface="Cambria" panose="02040503050406030204" pitchFamily="18" charset="0"/>
                <a:ea typeface="Cambria" panose="02040503050406030204" pitchFamily="18" charset="0"/>
                <a:cs typeface="Arial" panose="020B0604020202020204" pitchFamily="34" charset="0"/>
              </a:rPr>
              <a:t>Find the solutions of each of the following quadratic equations using the quadratic formula. Show your complete solution. Write your answer on a clean sheet of bond paper.  </a:t>
            </a:r>
            <a:endParaRPr lang="en-US" sz="2500" dirty="0">
              <a:solidFill>
                <a:srgbClr val="000000"/>
              </a:solidFill>
              <a:latin typeface="Cambria" panose="020405030504060302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4801514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645508" y="2454674"/>
                <a:ext cx="7098373" cy="1659878"/>
              </a:xfrm>
              <a:prstGeom prst="rect">
                <a:avLst/>
              </a:prstGeom>
            </p:spPr>
            <p:txBody>
              <a:bodyPr lIns="0" tIns="0" rIns="0" bIns="0" rtlCol="0" anchor="t">
                <a:spAutoFit/>
              </a:bodyPr>
              <a:lstStyle/>
              <a:p>
                <a:pPr marL="457200" indent="-457200" defTabSz="609630">
                  <a:lnSpc>
                    <a:spcPct val="150000"/>
                  </a:lnSpc>
                  <a:buAutoNum type="arabicPeriod"/>
                </a:pPr>
                <a14:m>
                  <m:oMath xmlns:m="http://schemas.openxmlformats.org/officeDocument/2006/math">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d>
                      <m:dPr>
                        <m:ctrlP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dPr>
                      <m:e>
                        <m:sSup>
                          <m:sSupPr>
                            <m:ctrlP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sSupPr>
                          <m:e>
                            <m:r>
                              <m:rPr>
                                <m:sty m:val="p"/>
                              </m:rP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x</m:t>
                            </m:r>
                          </m:e>
                          <m:sup>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up>
                        </m:sSup>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r>
                          <m:rPr>
                            <m:sty m:val="p"/>
                          </m:rP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x</m:t>
                        </m:r>
                      </m:e>
                    </m:d>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=5</m:t>
                    </m:r>
                  </m:oMath>
                </a14:m>
                <a:endParaRPr lang="en-US" sz="2500" b="0" i="0" dirty="0">
                  <a:solidFill>
                    <a:srgbClr val="000000"/>
                  </a:solidFill>
                  <a:latin typeface="Cambria Math" panose="02040503050406030204" pitchFamily="18" charset="0"/>
                  <a:ea typeface="Cambria" panose="02040503050406030204" pitchFamily="18" charset="0"/>
                  <a:cs typeface="Arial" panose="020B0604020202020204" pitchFamily="34" charset="0"/>
                </a:endParaRPr>
              </a:p>
              <a:p>
                <a:pPr marL="457200" indent="-457200" defTabSz="609630">
                  <a:lnSpc>
                    <a:spcPct val="150000"/>
                  </a:lnSpc>
                  <a:buAutoNum type="arabicPeriod"/>
                </a:pPr>
                <a14:m>
                  <m:oMath xmlns:m="http://schemas.openxmlformats.org/officeDocument/2006/math">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4</m:t>
                    </m:r>
                    <m:sSup>
                      <m:sSupPr>
                        <m:ctrlP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sSupPr>
                      <m:e>
                        <m:r>
                          <m:rPr>
                            <m:sty m:val="p"/>
                          </m:rP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x</m:t>
                        </m:r>
                      </m:e>
                      <m:sup>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up>
                    </m:sSup>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=−7</m:t>
                    </m:r>
                    <m:r>
                      <m:rPr>
                        <m:sty m:val="p"/>
                      </m:rP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x</m:t>
                    </m:r>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+15</m:t>
                    </m:r>
                  </m:oMath>
                </a14:m>
                <a:endParaRPr lang="en-US" sz="2500" b="0" i="0" dirty="0">
                  <a:solidFill>
                    <a:srgbClr val="000000"/>
                  </a:solidFill>
                  <a:latin typeface="Cambria Math" panose="02040503050406030204" pitchFamily="18" charset="0"/>
                  <a:ea typeface="Cambria" panose="02040503050406030204" pitchFamily="18" charset="0"/>
                  <a:cs typeface="Arial" panose="020B0604020202020204" pitchFamily="34" charset="0"/>
                </a:endParaRPr>
              </a:p>
              <a:p>
                <a:pPr marL="457200" indent="-457200" defTabSz="609630">
                  <a:lnSpc>
                    <a:spcPct val="150000"/>
                  </a:lnSpc>
                  <a:buAutoNum type="arabicPeriod"/>
                </a:pPr>
                <a14:m>
                  <m:oMath xmlns:m="http://schemas.openxmlformats.org/officeDocument/2006/math">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7</m:t>
                    </m:r>
                    <m:sSup>
                      <m:sSupPr>
                        <m:ctrlP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sSupPr>
                      <m:e>
                        <m:r>
                          <m:rPr>
                            <m:sty m:val="p"/>
                          </m:rP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x</m:t>
                        </m:r>
                      </m:e>
                      <m:sup>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up>
                    </m:sSup>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−37</m:t>
                    </m:r>
                    <m:r>
                      <m:rPr>
                        <m:sty m:val="p"/>
                      </m:rP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x</m:t>
                    </m:r>
                    <m:r>
                      <a:rPr lang="en-US" sz="2500" b="0" i="0" smtClean="0">
                        <a:solidFill>
                          <a:srgbClr val="000000"/>
                        </a:solidFill>
                        <a:latin typeface="Cambria Math" panose="02040503050406030204" pitchFamily="18" charset="0"/>
                        <a:ea typeface="Cambria" panose="02040503050406030204" pitchFamily="18" charset="0"/>
                        <a:cs typeface="Arial" panose="020B0604020202020204" pitchFamily="34" charset="0"/>
                      </a:rPr>
                      <m:t>+10=0 </m:t>
                    </m:r>
                  </m:oMath>
                </a14:m>
                <a:r>
                  <a:rPr lang="en-US" sz="2500" dirty="0">
                    <a:solidFill>
                      <a:srgbClr val="000000"/>
                    </a:solidFill>
                    <a:latin typeface="Cambria" panose="02040503050406030204" pitchFamily="18" charset="0"/>
                    <a:ea typeface="Cambria" panose="02040503050406030204" pitchFamily="18" charset="0"/>
                    <a:cs typeface="Arial" panose="020B0604020202020204" pitchFamily="34" charset="0"/>
                  </a:rPr>
                  <a:t> </a:t>
                </a:r>
                <a:endParaRPr lang="en-US" sz="2500" dirty="0">
                  <a:solidFill>
                    <a:srgbClr val="000000"/>
                  </a:solidFill>
                  <a:latin typeface="Cambria" panose="02040503050406030204" pitchFamily="18" charset="0"/>
                  <a:ea typeface="Cambria" panose="020405030504060302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645508" y="2454674"/>
                <a:ext cx="7098373" cy="1659878"/>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35828521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mc:AlternateContent xmlns:mc="http://schemas.openxmlformats.org/markup-compatibility/2006" xmlns:a14="http://schemas.microsoft.com/office/drawing/2010/main">
        <mc:Choice Requires="a14">
          <p:sp>
            <p:nvSpPr>
              <p:cNvPr id="7" name="TextBox 7"/>
              <p:cNvSpPr txBox="1"/>
              <p:nvPr/>
            </p:nvSpPr>
            <p:spPr>
              <a:xfrm>
                <a:off x="2744203" y="2235506"/>
                <a:ext cx="7098373" cy="2814040"/>
              </a:xfrm>
              <a:prstGeom prst="rect">
                <a:avLst/>
              </a:prstGeom>
            </p:spPr>
            <p:txBody>
              <a:bodyPr lIns="0" tIns="0" rIns="0" bIns="0" rtlCol="0" anchor="t">
                <a:spAutoFit/>
              </a:bodyPr>
              <a:lstStyle/>
              <a:p>
                <a:pPr marL="457200" indent="-457200" defTabSz="609630">
                  <a:lnSpc>
                    <a:spcPct val="150000"/>
                  </a:lnSpc>
                  <a:buAutoNum type="arabicPeriod"/>
                </a:pPr>
                <a14:m>
                  <m:oMath xmlns:m="http://schemas.openxmlformats.org/officeDocument/2006/math">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Sup>
                      <m:sSupPr>
                        <m:ctrlP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sSupPr>
                      <m:e>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e>
                      <m:sup>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up>
                    </m:sSup>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m:t>
                    </m:r>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−6=0</m:t>
                    </m:r>
                  </m:oMath>
                </a14:m>
                <a:endParaRPr lang="en-US" sz="2500" b="0" i="0" dirty="0">
                  <a:solidFill>
                    <a:srgbClr val="000000"/>
                  </a:solidFill>
                  <a:latin typeface="Cambria Math" panose="02040503050406030204" pitchFamily="18" charset="0"/>
                  <a:ea typeface="Cambria" panose="02040503050406030204" pitchFamily="18" charset="0"/>
                  <a:cs typeface="Arial" panose="020B0604020202020204" pitchFamily="34" charset="0"/>
                </a:endParaRPr>
              </a:p>
              <a:p>
                <a:pPr marL="457200" indent="-457200" defTabSz="609630">
                  <a:lnSpc>
                    <a:spcPct val="150000"/>
                  </a:lnSpc>
                  <a:buAutoNum type="arabicPeriod"/>
                </a:pPr>
                <a14:m>
                  <m:oMath xmlns:m="http://schemas.openxmlformats.org/officeDocument/2006/math">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3</m:t>
                    </m:r>
                    <m:sSup>
                      <m:sSupPr>
                        <m:ctrlP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ctrlPr>
                      </m:sSupPr>
                      <m:e>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e>
                      <m:sup>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2</m:t>
                        </m:r>
                      </m:sup>
                    </m:sSup>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+1=5</m:t>
                    </m:r>
                    <m:r>
                      <a:rPr lang="en-US" sz="2500" b="0" i="1" smtClean="0">
                        <a:solidFill>
                          <a:srgbClr val="000000"/>
                        </a:solidFill>
                        <a:latin typeface="Cambria Math" panose="02040503050406030204" pitchFamily="18" charset="0"/>
                        <a:ea typeface="Cambria" panose="02040503050406030204" pitchFamily="18" charset="0"/>
                        <a:cs typeface="Arial" panose="020B0604020202020204" pitchFamily="34" charset="0"/>
                      </a:rPr>
                      <m:t>𝑥</m:t>
                    </m:r>
                  </m:oMath>
                </a14:m>
                <a:endParaRPr lang="en-US" sz="2500" b="0" i="0" dirty="0">
                  <a:solidFill>
                    <a:srgbClr val="000000"/>
                  </a:solidFill>
                  <a:latin typeface="Cambria Math" panose="02040503050406030204" pitchFamily="18" charset="0"/>
                  <a:ea typeface="Cambria" panose="02040503050406030204" pitchFamily="18" charset="0"/>
                  <a:cs typeface="Arial" panose="020B0604020202020204" pitchFamily="34" charset="0"/>
                </a:endParaRPr>
              </a:p>
              <a:p>
                <a:pPr marL="457200" indent="-457200" defTabSz="609630">
                  <a:lnSpc>
                    <a:spcPct val="150000"/>
                  </a:lnSpc>
                  <a:buAutoNum type="arabicPeriod"/>
                </a:pPr>
                <a14:m>
                  <m:oMath xmlns:m="http://schemas.openxmlformats.org/officeDocument/2006/math">
                    <m:r>
                      <a:rPr lang="en-US" sz="2500" b="0" i="1" smtClean="0">
                        <a:solidFill>
                          <a:srgbClr val="000000"/>
                        </a:solidFill>
                        <a:latin typeface="Cambria Math" panose="02040503050406030204" pitchFamily="18" charset="0"/>
                        <a:ea typeface="Cambria" panose="02040503050406030204" pitchFamily="18" charset="0"/>
                      </a:rPr>
                      <m:t>2</m:t>
                    </m:r>
                    <m:sSup>
                      <m:sSupPr>
                        <m:ctrlPr>
                          <a:rPr lang="en-US" sz="2500" b="0" i="1" smtClean="0">
                            <a:solidFill>
                              <a:srgbClr val="000000"/>
                            </a:solidFill>
                            <a:latin typeface="Cambria Math" panose="02040503050406030204" pitchFamily="18" charset="0"/>
                            <a:ea typeface="Cambria" panose="02040503050406030204" pitchFamily="18" charset="0"/>
                          </a:rPr>
                        </m:ctrlPr>
                      </m:sSupPr>
                      <m:e>
                        <m:r>
                          <a:rPr lang="en-US" sz="2500" b="0" i="1" smtClean="0">
                            <a:solidFill>
                              <a:srgbClr val="000000"/>
                            </a:solidFill>
                            <a:latin typeface="Cambria Math" panose="02040503050406030204" pitchFamily="18" charset="0"/>
                            <a:ea typeface="Cambria" panose="02040503050406030204" pitchFamily="18" charset="0"/>
                          </a:rPr>
                          <m:t>𝑥</m:t>
                        </m:r>
                      </m:e>
                      <m:sup>
                        <m:r>
                          <a:rPr lang="en-US" sz="2500" b="0" i="1" smtClean="0">
                            <a:solidFill>
                              <a:srgbClr val="000000"/>
                            </a:solidFill>
                            <a:latin typeface="Cambria Math" panose="02040503050406030204" pitchFamily="18" charset="0"/>
                            <a:ea typeface="Cambria" panose="02040503050406030204" pitchFamily="18" charset="0"/>
                          </a:rPr>
                          <m:t>2</m:t>
                        </m:r>
                      </m:sup>
                    </m:sSup>
                    <m:r>
                      <a:rPr lang="en-US" sz="2500" b="0" i="1" smtClean="0">
                        <a:solidFill>
                          <a:srgbClr val="000000"/>
                        </a:solidFill>
                        <a:latin typeface="Cambria Math" panose="02040503050406030204" pitchFamily="18" charset="0"/>
                        <a:ea typeface="Cambria" panose="02040503050406030204" pitchFamily="18" charset="0"/>
                      </a:rPr>
                      <m:t>+5</m:t>
                    </m:r>
                    <m:r>
                      <a:rPr lang="en-US" sz="2500" b="0" i="1" smtClean="0">
                        <a:solidFill>
                          <a:srgbClr val="000000"/>
                        </a:solidFill>
                        <a:latin typeface="Cambria Math" panose="02040503050406030204" pitchFamily="18" charset="0"/>
                        <a:ea typeface="Cambria" panose="02040503050406030204" pitchFamily="18" charset="0"/>
                      </a:rPr>
                      <m:t>𝑥</m:t>
                    </m:r>
                    <m:r>
                      <a:rPr lang="en-US" sz="2500" b="0" i="1" smtClean="0">
                        <a:solidFill>
                          <a:srgbClr val="000000"/>
                        </a:solidFill>
                        <a:latin typeface="Cambria Math" panose="02040503050406030204" pitchFamily="18" charset="0"/>
                        <a:ea typeface="Cambria" panose="02040503050406030204" pitchFamily="18" charset="0"/>
                      </a:rPr>
                      <m:t>−4=0</m:t>
                    </m:r>
                  </m:oMath>
                </a14:m>
                <a:endParaRPr lang="en-US" sz="2500" b="0" dirty="0">
                  <a:solidFill>
                    <a:srgbClr val="000000"/>
                  </a:solidFill>
                  <a:latin typeface="Cambria" panose="02040503050406030204" pitchFamily="18" charset="0"/>
                  <a:ea typeface="Cambria" panose="02040503050406030204" pitchFamily="18" charset="0"/>
                </a:endParaRPr>
              </a:p>
              <a:p>
                <a:pPr marL="457200" indent="-457200" defTabSz="609630">
                  <a:lnSpc>
                    <a:spcPct val="150000"/>
                  </a:lnSpc>
                  <a:buAutoNum type="arabicPeriod"/>
                </a:pPr>
                <a14:m>
                  <m:oMath xmlns:m="http://schemas.openxmlformats.org/officeDocument/2006/math">
                    <m:r>
                      <a:rPr lang="en-US" sz="2500" b="0" i="1" smtClean="0">
                        <a:solidFill>
                          <a:srgbClr val="000000"/>
                        </a:solidFill>
                        <a:latin typeface="Cambria Math" panose="02040503050406030204" pitchFamily="18" charset="0"/>
                        <a:ea typeface="Cambria" panose="02040503050406030204" pitchFamily="18" charset="0"/>
                      </a:rPr>
                      <m:t>4</m:t>
                    </m:r>
                    <m:sSup>
                      <m:sSupPr>
                        <m:ctrlPr>
                          <a:rPr lang="en-US" sz="2500" b="0" i="1" smtClean="0">
                            <a:solidFill>
                              <a:srgbClr val="000000"/>
                            </a:solidFill>
                            <a:latin typeface="Cambria Math" panose="02040503050406030204" pitchFamily="18" charset="0"/>
                            <a:ea typeface="Cambria" panose="02040503050406030204" pitchFamily="18" charset="0"/>
                          </a:rPr>
                        </m:ctrlPr>
                      </m:sSupPr>
                      <m:e>
                        <m:r>
                          <a:rPr lang="en-US" sz="2500" b="0" i="1" smtClean="0">
                            <a:solidFill>
                              <a:srgbClr val="000000"/>
                            </a:solidFill>
                            <a:latin typeface="Cambria Math" panose="02040503050406030204" pitchFamily="18" charset="0"/>
                            <a:ea typeface="Cambria" panose="02040503050406030204" pitchFamily="18" charset="0"/>
                          </a:rPr>
                          <m:t>𝑥</m:t>
                        </m:r>
                      </m:e>
                      <m:sup>
                        <m:r>
                          <a:rPr lang="en-US" sz="2500" b="0" i="1" smtClean="0">
                            <a:solidFill>
                              <a:srgbClr val="000000"/>
                            </a:solidFill>
                            <a:latin typeface="Cambria Math" panose="02040503050406030204" pitchFamily="18" charset="0"/>
                            <a:ea typeface="Cambria" panose="02040503050406030204" pitchFamily="18" charset="0"/>
                          </a:rPr>
                          <m:t>2</m:t>
                        </m:r>
                      </m:sup>
                    </m:sSup>
                    <m:r>
                      <a:rPr lang="en-US" sz="2500" b="0" i="1" smtClean="0">
                        <a:solidFill>
                          <a:srgbClr val="000000"/>
                        </a:solidFill>
                        <a:latin typeface="Cambria Math" panose="02040503050406030204" pitchFamily="18" charset="0"/>
                        <a:ea typeface="Cambria" panose="02040503050406030204" pitchFamily="18" charset="0"/>
                      </a:rPr>
                      <m:t>+20</m:t>
                    </m:r>
                    <m:r>
                      <a:rPr lang="en-US" sz="2500" b="0" i="1" smtClean="0">
                        <a:solidFill>
                          <a:srgbClr val="000000"/>
                        </a:solidFill>
                        <a:latin typeface="Cambria Math" panose="02040503050406030204" pitchFamily="18" charset="0"/>
                        <a:ea typeface="Cambria" panose="02040503050406030204" pitchFamily="18" charset="0"/>
                      </a:rPr>
                      <m:t>𝑥</m:t>
                    </m:r>
                    <m:r>
                      <a:rPr lang="en-US" sz="2500" b="0" i="1" smtClean="0">
                        <a:solidFill>
                          <a:srgbClr val="000000"/>
                        </a:solidFill>
                        <a:latin typeface="Cambria Math" panose="02040503050406030204" pitchFamily="18" charset="0"/>
                        <a:ea typeface="Cambria" panose="02040503050406030204" pitchFamily="18" charset="0"/>
                      </a:rPr>
                      <m:t>=−25</m:t>
                    </m:r>
                  </m:oMath>
                </a14:m>
                <a:endParaRPr lang="en-US" sz="2500" b="0" dirty="0">
                  <a:solidFill>
                    <a:srgbClr val="000000"/>
                  </a:solidFill>
                  <a:latin typeface="Cambria" panose="02040503050406030204" pitchFamily="18" charset="0"/>
                  <a:ea typeface="Cambria" panose="02040503050406030204" pitchFamily="18" charset="0"/>
                </a:endParaRPr>
              </a:p>
              <a:p>
                <a:pPr marL="457200" indent="-457200" defTabSz="609630">
                  <a:lnSpc>
                    <a:spcPct val="150000"/>
                  </a:lnSpc>
                  <a:buAutoNum type="arabicPeriod"/>
                </a:pPr>
                <a14:m>
                  <m:oMath xmlns:m="http://schemas.openxmlformats.org/officeDocument/2006/math">
                    <m:r>
                      <a:rPr lang="en-US" sz="2500" b="0" i="1" smtClean="0">
                        <a:solidFill>
                          <a:srgbClr val="000000"/>
                        </a:solidFill>
                        <a:latin typeface="Cambria Math" panose="02040503050406030204" pitchFamily="18" charset="0"/>
                        <a:ea typeface="Cambria" panose="02040503050406030204" pitchFamily="18" charset="0"/>
                      </a:rPr>
                      <m:t>7</m:t>
                    </m:r>
                    <m:sSup>
                      <m:sSupPr>
                        <m:ctrlPr>
                          <a:rPr lang="en-US" sz="2500" b="0" i="1" smtClean="0">
                            <a:solidFill>
                              <a:srgbClr val="000000"/>
                            </a:solidFill>
                            <a:latin typeface="Cambria Math" panose="02040503050406030204" pitchFamily="18" charset="0"/>
                            <a:ea typeface="Cambria" panose="02040503050406030204" pitchFamily="18" charset="0"/>
                          </a:rPr>
                        </m:ctrlPr>
                      </m:sSupPr>
                      <m:e>
                        <m:r>
                          <a:rPr lang="en-US" sz="2500" b="0" i="1" smtClean="0">
                            <a:solidFill>
                              <a:srgbClr val="000000"/>
                            </a:solidFill>
                            <a:latin typeface="Cambria Math" panose="02040503050406030204" pitchFamily="18" charset="0"/>
                            <a:ea typeface="Cambria" panose="02040503050406030204" pitchFamily="18" charset="0"/>
                          </a:rPr>
                          <m:t>𝑥</m:t>
                        </m:r>
                      </m:e>
                      <m:sup>
                        <m:r>
                          <a:rPr lang="en-US" sz="2500" b="0" i="1" smtClean="0">
                            <a:solidFill>
                              <a:srgbClr val="000000"/>
                            </a:solidFill>
                            <a:latin typeface="Cambria Math" panose="02040503050406030204" pitchFamily="18" charset="0"/>
                            <a:ea typeface="Cambria" panose="02040503050406030204" pitchFamily="18" charset="0"/>
                          </a:rPr>
                          <m:t>2</m:t>
                        </m:r>
                      </m:sup>
                    </m:sSup>
                    <m:r>
                      <a:rPr lang="en-US" sz="2500" b="0" i="1" smtClean="0">
                        <a:solidFill>
                          <a:srgbClr val="000000"/>
                        </a:solidFill>
                        <a:latin typeface="Cambria Math" panose="02040503050406030204" pitchFamily="18" charset="0"/>
                        <a:ea typeface="Cambria" panose="02040503050406030204" pitchFamily="18" charset="0"/>
                      </a:rPr>
                      <m:t>+10=37</m:t>
                    </m:r>
                    <m:r>
                      <a:rPr lang="en-US" sz="2500" b="0" i="1" smtClean="0">
                        <a:solidFill>
                          <a:srgbClr val="000000"/>
                        </a:solidFill>
                        <a:latin typeface="Cambria Math" panose="02040503050406030204" pitchFamily="18" charset="0"/>
                        <a:ea typeface="Cambria" panose="02040503050406030204" pitchFamily="18" charset="0"/>
                      </a:rPr>
                      <m:t>𝑥</m:t>
                    </m:r>
                  </m:oMath>
                </a14:m>
                <a:endParaRPr lang="en-US" sz="2500" dirty="0">
                  <a:solidFill>
                    <a:srgbClr val="000000"/>
                  </a:solidFill>
                  <a:latin typeface="Cambria" panose="02040503050406030204" pitchFamily="18" charset="0"/>
                  <a:ea typeface="Cambria" panose="02040503050406030204" pitchFamily="18" charset="0"/>
                </a:endParaRPr>
              </a:p>
            </p:txBody>
          </p:sp>
        </mc:Choice>
        <mc:Fallback xmlns="">
          <p:sp>
            <p:nvSpPr>
              <p:cNvPr id="7" name="TextBox 7"/>
              <p:cNvSpPr txBox="1">
                <a:spLocks noRot="1" noChangeAspect="1" noMove="1" noResize="1" noEditPoints="1" noAdjustHandles="1" noChangeArrowheads="1" noChangeShapeType="1" noTextEdit="1"/>
              </p:cNvSpPr>
              <p:nvPr/>
            </p:nvSpPr>
            <p:spPr>
              <a:xfrm>
                <a:off x="2744203" y="2235506"/>
                <a:ext cx="7098373" cy="2814040"/>
              </a:xfrm>
              <a:prstGeom prst="rect">
                <a:avLst/>
              </a:prstGeom>
              <a:blipFill>
                <a:blip r:embed="rId11"/>
                <a:stretch>
                  <a:fillRect/>
                </a:stretch>
              </a:blipFill>
            </p:spPr>
            <p:txBody>
              <a:bodyPr/>
              <a:lstStyle/>
              <a:p>
                <a:r>
                  <a:rPr lang="en-US">
                    <a:noFill/>
                  </a:rPr>
                  <a:t> </a:t>
                </a:r>
              </a:p>
            </p:txBody>
          </p:sp>
        </mc:Fallback>
      </mc:AlternateContent>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34706333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16997" y="1337491"/>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546813" y="2219894"/>
            <a:ext cx="7098373" cy="2694007"/>
          </a:xfrm>
          <a:prstGeom prst="rect">
            <a:avLst/>
          </a:prstGeom>
        </p:spPr>
        <p:txBody>
          <a:bodyPr lIns="0" tIns="0" rIns="0" bIns="0" rtlCol="0" anchor="t">
            <a:spAutoFit/>
          </a:bodyPr>
          <a:lstStyle/>
          <a:p>
            <a:pPr algn="ctr" defTabSz="609630">
              <a:lnSpc>
                <a:spcPct val="150000"/>
              </a:lnSpc>
            </a:pPr>
            <a:r>
              <a:rPr lang="en-US" sz="5400" b="1" dirty="0">
                <a:solidFill>
                  <a:srgbClr val="000000"/>
                </a:solidFill>
                <a:latin typeface="Century" panose="02040604050505020304" pitchFamily="18" charset="0"/>
                <a:ea typeface="Cambria" panose="02040503050406030204" pitchFamily="18" charset="0"/>
                <a:cs typeface="Arial" panose="020B0604020202020204" pitchFamily="34" charset="0"/>
              </a:rPr>
              <a:t>“Assignment”.</a:t>
            </a:r>
          </a:p>
          <a:p>
            <a:pPr algn="ctr" defTabSz="609630">
              <a:lnSpc>
                <a:spcPct val="150000"/>
              </a:lnSpc>
            </a:pPr>
            <a:endParaRPr lang="en-US" sz="2400" b="1" dirty="0">
              <a:solidFill>
                <a:srgbClr val="000000"/>
              </a:solidFill>
              <a:latin typeface="Century" panose="02040604050505020304" pitchFamily="18" charset="0"/>
              <a:ea typeface="Cambria" panose="02040503050406030204" pitchFamily="18" charset="0"/>
              <a:cs typeface="Arial" panose="020B0604020202020204" pitchFamily="34" charset="0"/>
            </a:endParaRPr>
          </a:p>
          <a:p>
            <a:pPr algn="ctr" defTabSz="609630">
              <a:lnSpc>
                <a:spcPts val="8587"/>
              </a:lnSpc>
            </a:pPr>
            <a:endParaRPr lang="en-US" sz="2400" b="1" dirty="0">
              <a:solidFill>
                <a:srgbClr val="000000"/>
              </a:solidFill>
              <a:latin typeface="Century" panose="020406040505050203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29641800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a:off x="2343896" y="1738784"/>
            <a:ext cx="7498680" cy="3807485"/>
          </a:xfrm>
          <a:custGeom>
            <a:avLst/>
            <a:gdLst/>
            <a:ahLst/>
            <a:cxnLst/>
            <a:rect l="l" t="t" r="r" b="b"/>
            <a:pathLst>
              <a:path w="11239728" h="5070650">
                <a:moveTo>
                  <a:pt x="0" y="0"/>
                </a:moveTo>
                <a:lnTo>
                  <a:pt x="11239728" y="0"/>
                </a:lnTo>
                <a:lnTo>
                  <a:pt x="11239728" y="5070650"/>
                </a:lnTo>
                <a:lnTo>
                  <a:pt x="0" y="5070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Freeform 3"/>
          <p:cNvSpPr/>
          <p:nvPr/>
        </p:nvSpPr>
        <p:spPr>
          <a:xfrm rot="-2028625">
            <a:off x="1402604" y="1028576"/>
            <a:ext cx="2827281" cy="1735243"/>
          </a:xfrm>
          <a:custGeom>
            <a:avLst/>
            <a:gdLst/>
            <a:ahLst/>
            <a:cxnLst/>
            <a:rect l="l" t="t" r="r" b="b"/>
            <a:pathLst>
              <a:path w="4240921" h="2602865">
                <a:moveTo>
                  <a:pt x="0" y="0"/>
                </a:moveTo>
                <a:lnTo>
                  <a:pt x="4240921" y="0"/>
                </a:lnTo>
                <a:lnTo>
                  <a:pt x="4240921" y="2602866"/>
                </a:lnTo>
                <a:lnTo>
                  <a:pt x="0" y="2602866"/>
                </a:lnTo>
                <a:lnTo>
                  <a:pt x="0" y="0"/>
                </a:lnTo>
                <a:close/>
              </a:path>
            </a:pathLst>
          </a:custGeom>
          <a:blipFill>
            <a:blip r:embed="rId4"/>
            <a:stretch>
              <a:fillRect/>
            </a:stretch>
          </a:blipFill>
        </p:spPr>
      </p:sp>
      <p:sp>
        <p:nvSpPr>
          <p:cNvPr id="4" name="Freeform 4"/>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2657845" y="2134319"/>
            <a:ext cx="7098373" cy="1082797"/>
          </a:xfrm>
          <a:prstGeom prst="rect">
            <a:avLst/>
          </a:prstGeom>
        </p:spPr>
        <p:txBody>
          <a:bodyPr lIns="0" tIns="0" rIns="0" bIns="0" rtlCol="0" anchor="t">
            <a:spAutoFit/>
          </a:bodyPr>
          <a:lstStyle/>
          <a:p>
            <a:pPr defTabSz="609630">
              <a:lnSpc>
                <a:spcPct val="150000"/>
              </a:lnSpc>
            </a:pPr>
            <a:r>
              <a:rPr lang="en-US" sz="2500" b="1" dirty="0">
                <a:solidFill>
                  <a:srgbClr val="000000"/>
                </a:solidFill>
                <a:latin typeface="Cambria" panose="02040503050406030204" pitchFamily="18" charset="0"/>
                <a:ea typeface="Cambria" panose="02040503050406030204" pitchFamily="18" charset="0"/>
                <a:cs typeface="Arial" panose="020B0604020202020204" pitchFamily="34" charset="0"/>
              </a:rPr>
              <a:t>Directions: </a:t>
            </a:r>
            <a:r>
              <a:rPr lang="en-US" sz="2500" dirty="0">
                <a:solidFill>
                  <a:srgbClr val="000000"/>
                </a:solidFill>
                <a:latin typeface="Cambria" panose="02040503050406030204" pitchFamily="18" charset="0"/>
                <a:ea typeface="Cambria" panose="02040503050406030204" pitchFamily="18" charset="0"/>
                <a:cs typeface="Arial" panose="020B0604020202020204" pitchFamily="34" charset="0"/>
              </a:rPr>
              <a:t>Find the solution of the following equation using quadratic formula. </a:t>
            </a:r>
            <a:endParaRPr lang="en-US" sz="2500" dirty="0">
              <a:solidFill>
                <a:srgbClr val="000000"/>
              </a:solidFill>
              <a:latin typeface="Cambria" panose="02040503050406030204" pitchFamily="18" charset="0"/>
              <a:ea typeface="Cambria" panose="02040503050406030204" pitchFamily="18" charset="0"/>
            </a:endParaRPr>
          </a:p>
        </p:txBody>
      </p:sp>
      <p:sp>
        <p:nvSpPr>
          <p:cNvPr id="8" name="Freeform 8"/>
          <p:cNvSpPr/>
          <p:nvPr/>
        </p:nvSpPr>
        <p:spPr>
          <a:xfrm rot="8266412" flipV="1">
            <a:off x="11592388" y="1050285"/>
            <a:ext cx="1447533" cy="2743200"/>
          </a:xfrm>
          <a:custGeom>
            <a:avLst/>
            <a:gdLst/>
            <a:ahLst/>
            <a:cxnLst/>
            <a:rect l="l" t="t" r="r" b="b"/>
            <a:pathLst>
              <a:path w="2171300" h="4114800">
                <a:moveTo>
                  <a:pt x="0" y="4114800"/>
                </a:moveTo>
                <a:lnTo>
                  <a:pt x="2171299" y="4114800"/>
                </a:lnTo>
                <a:lnTo>
                  <a:pt x="2171299"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rot="8266412" flipH="1" flipV="1">
            <a:off x="10372494" y="1459490"/>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9">
              <a:extLst>
                <a:ext uri="{96DAC541-7B7A-43D3-8B79-37D633B846F1}">
                  <asvg:svgBlip xmlns:asvg="http://schemas.microsoft.com/office/drawing/2016/SVG/main" r:embed="rId10"/>
                </a:ext>
              </a:extLst>
            </a:blip>
            <a:stretch>
              <a:fillRect/>
            </a:stretch>
          </a:blipFill>
        </p:spPr>
      </p:sp>
    </p:spTree>
    <p:extLst>
      <p:ext uri="{BB962C8B-B14F-4D97-AF65-F5344CB8AC3E}">
        <p14:creationId xmlns:p14="http://schemas.microsoft.com/office/powerpoint/2010/main" val="1584574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0DBDB"/>
        </a:solidFill>
        <a:effectLst/>
      </p:bgPr>
    </p:bg>
    <p:spTree>
      <p:nvGrpSpPr>
        <p:cNvPr id="1" name=""/>
        <p:cNvGrpSpPr/>
        <p:nvPr/>
      </p:nvGrpSpPr>
      <p:grpSpPr>
        <a:xfrm>
          <a:off x="0" y="0"/>
          <a:ext cx="0" cy="0"/>
          <a:chOff x="0" y="0"/>
          <a:chExt cx="0" cy="0"/>
        </a:xfrm>
      </p:grpSpPr>
      <p:sp>
        <p:nvSpPr>
          <p:cNvPr id="2" name="Freeform 2"/>
          <p:cNvSpPr/>
          <p:nvPr/>
        </p:nvSpPr>
        <p:spPr>
          <a:xfrm flipV="1">
            <a:off x="-447784" y="-821708"/>
            <a:ext cx="1447533" cy="2743200"/>
          </a:xfrm>
          <a:custGeom>
            <a:avLst/>
            <a:gdLst/>
            <a:ahLst/>
            <a:cxnLst/>
            <a:rect l="l" t="t" r="r" b="b"/>
            <a:pathLst>
              <a:path w="2171300" h="4114800">
                <a:moveTo>
                  <a:pt x="0" y="4114800"/>
                </a:moveTo>
                <a:lnTo>
                  <a:pt x="2171300" y="4114800"/>
                </a:lnTo>
                <a:lnTo>
                  <a:pt x="21713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685800" y="-322157"/>
            <a:ext cx="1498956" cy="2743200"/>
          </a:xfrm>
          <a:custGeom>
            <a:avLst/>
            <a:gdLst/>
            <a:ahLst/>
            <a:cxnLst/>
            <a:rect l="l" t="t" r="r" b="b"/>
            <a:pathLst>
              <a:path w="2248434" h="4114800">
                <a:moveTo>
                  <a:pt x="2248434" y="4114800"/>
                </a:moveTo>
                <a:lnTo>
                  <a:pt x="0" y="4114800"/>
                </a:lnTo>
                <a:lnTo>
                  <a:pt x="0" y="0"/>
                </a:lnTo>
                <a:lnTo>
                  <a:pt x="2248434" y="0"/>
                </a:lnTo>
                <a:lnTo>
                  <a:pt x="2248434"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1303207" flipH="1" flipV="1">
            <a:off x="11416219" y="-277844"/>
            <a:ext cx="1447533" cy="2743200"/>
          </a:xfrm>
          <a:custGeom>
            <a:avLst/>
            <a:gdLst/>
            <a:ahLst/>
            <a:cxnLst/>
            <a:rect l="l" t="t" r="r" b="b"/>
            <a:pathLst>
              <a:path w="2171300" h="4114800">
                <a:moveTo>
                  <a:pt x="2171300" y="4114800"/>
                </a:moveTo>
                <a:lnTo>
                  <a:pt x="0" y="4114800"/>
                </a:lnTo>
                <a:lnTo>
                  <a:pt x="0" y="0"/>
                </a:lnTo>
                <a:lnTo>
                  <a:pt x="2171300" y="0"/>
                </a:lnTo>
                <a:lnTo>
                  <a:pt x="217130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rot="1303207" flipV="1">
            <a:off x="10146823" y="-356953"/>
            <a:ext cx="1498956" cy="2743200"/>
          </a:xfrm>
          <a:custGeom>
            <a:avLst/>
            <a:gdLst/>
            <a:ahLst/>
            <a:cxnLst/>
            <a:rect l="l" t="t" r="r" b="b"/>
            <a:pathLst>
              <a:path w="2248434" h="4114800">
                <a:moveTo>
                  <a:pt x="0" y="4114800"/>
                </a:moveTo>
                <a:lnTo>
                  <a:pt x="2248434" y="4114800"/>
                </a:lnTo>
                <a:lnTo>
                  <a:pt x="2248434"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891515" y="1655472"/>
            <a:ext cx="8408971" cy="3547057"/>
          </a:xfrm>
          <a:custGeom>
            <a:avLst/>
            <a:gdLst/>
            <a:ahLst/>
            <a:cxnLst/>
            <a:rect l="l" t="t" r="r" b="b"/>
            <a:pathLst>
              <a:path w="12613457" h="5320586">
                <a:moveTo>
                  <a:pt x="0" y="0"/>
                </a:moveTo>
                <a:lnTo>
                  <a:pt x="12613458" y="0"/>
                </a:lnTo>
                <a:lnTo>
                  <a:pt x="12613458" y="5320586"/>
                </a:lnTo>
                <a:lnTo>
                  <a:pt x="0" y="532058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447784" y="4296622"/>
            <a:ext cx="2322770" cy="2771201"/>
          </a:xfrm>
          <a:custGeom>
            <a:avLst/>
            <a:gdLst/>
            <a:ahLst/>
            <a:cxnLst/>
            <a:rect l="l" t="t" r="r" b="b"/>
            <a:pathLst>
              <a:path w="3484155" h="4156801">
                <a:moveTo>
                  <a:pt x="0" y="0"/>
                </a:moveTo>
                <a:lnTo>
                  <a:pt x="3484155" y="0"/>
                </a:lnTo>
                <a:lnTo>
                  <a:pt x="3484155" y="4156800"/>
                </a:lnTo>
                <a:lnTo>
                  <a:pt x="0" y="4156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a:off x="9842576" y="3934095"/>
            <a:ext cx="2349424" cy="2653353"/>
          </a:xfrm>
          <a:custGeom>
            <a:avLst/>
            <a:gdLst/>
            <a:ahLst/>
            <a:cxnLst/>
            <a:rect l="l" t="t" r="r" b="b"/>
            <a:pathLst>
              <a:path w="3524136" h="3980030">
                <a:moveTo>
                  <a:pt x="0" y="0"/>
                </a:moveTo>
                <a:lnTo>
                  <a:pt x="3524136" y="0"/>
                </a:lnTo>
                <a:lnTo>
                  <a:pt x="3524136" y="3980031"/>
                </a:lnTo>
                <a:lnTo>
                  <a:pt x="0" y="39800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3385865" y="2121655"/>
            <a:ext cx="4962361" cy="2614690"/>
          </a:xfrm>
          <a:prstGeom prst="rect">
            <a:avLst/>
          </a:prstGeom>
        </p:spPr>
        <p:txBody>
          <a:bodyPr lIns="0" tIns="0" rIns="0" bIns="0" rtlCol="0" anchor="t">
            <a:spAutoFit/>
          </a:bodyPr>
          <a:lstStyle/>
          <a:p>
            <a:pPr algn="ctr" defTabSz="609630">
              <a:lnSpc>
                <a:spcPts val="7000"/>
              </a:lnSpc>
            </a:pPr>
            <a:r>
              <a:rPr lang="en-US" sz="4000" dirty="0">
                <a:solidFill>
                  <a:srgbClr val="000000"/>
                </a:solidFill>
                <a:latin typeface="Century" panose="02040604050505020304" pitchFamily="18" charset="0"/>
              </a:rPr>
              <a:t>THANK YOU AND HAVE A GOOD DAY!</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1594</TotalTime>
  <Words>1009</Words>
  <Application>Microsoft Office PowerPoint</Application>
  <PresentationFormat>Widescreen</PresentationFormat>
  <Paragraphs>165</Paragraphs>
  <Slides>66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Arial</vt:lpstr>
      <vt:lpstr>Calibri</vt:lpstr>
      <vt:lpstr>Cambria</vt:lpstr>
      <vt:lpstr>Cambria Math</vt:lpstr>
      <vt:lpstr>Century</vt:lpstr>
      <vt:lpstr>More Sugar</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Dona Gatchalian</dc:creator>
  <cp:lastModifiedBy>Dona Gatchalian</cp:lastModifiedBy>
  <cp:revision>9</cp:revision>
  <dcterms:created xsi:type="dcterms:W3CDTF">2024-05-08T07:51:10Z</dcterms:created>
  <dcterms:modified xsi:type="dcterms:W3CDTF">2024-08-16T04:07:44Z</dcterms:modified>
</cp:coreProperties>
</file>